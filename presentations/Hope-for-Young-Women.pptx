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Mirrors the live hero section of jcfm.online/hope-for-young-women.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Mirrors the 'The Need We Answer' section — four cards from the NEEDS array.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general — the detailed personal chronology has been removed from the public site at Pastor Sarah's request; she shares it herself in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Mirrors the PILLARS array — Nurture, Mentorship, Outreach.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Mirrors the PROGRAMS array — four ongoing ministry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Mirrors the Mission &amp; Vision section plus the four VALUES chips.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Anonymised testimony — no name used, matching the live site's handling of this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Mirrors the 'Vision / Goal' stat callout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Mirrors the PARTNER_LEVELS array and the Give Now panel — the live IntaSend widget replaces PayPal, USD amount converted to KES at checkout.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 call to action with live site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C1D95"/>
        </a:solidFill>
      </p:bgPr>
    </p:bg>
    <p:spTree>
      <p:nvGrpSpPr>
        <p:cNvPr id="1" name=""/>
        <p:cNvGrpSpPr/>
        <p:nvPr/>
      </p:nvGrpSpPr>
      <p:grpSpPr>
        <a:xfrm>
          <a:off x="0" y="0"/>
          <a:ext cx="0" cy="0"/>
          <a:chOff x="0" y="0"/>
          <a:chExt cx="0" cy="0"/>
        </a:xfrm>
      </p:grpSpPr>
      <p:pic>
        <p:nvPicPr>
          <p:cNvPr id="2" name="Image 0" descr="icons/heart-handshake.png">    </p:cNvPr>
          <p:cNvPicPr>
            <a:picLocks noChangeAspect="1"/>
          </p:cNvPicPr>
          <p:nvPr/>
        </p:nvPicPr>
        <p:blipFill>
          <a:blip r:embed="rId1">
            <a:alphaModFix amt="12000"/>
          </a:blip>
          <a:stretch>
            <a:fillRect/>
          </a:stretch>
        </p:blipFill>
        <p:spPr>
          <a:xfrm>
            <a:off x="8778240" y="3291840"/>
            <a:ext cx="4206240" cy="4206240"/>
          </a:xfrm>
          <a:prstGeom prst="rect">
            <a:avLst/>
          </a:prstGeom>
        </p:spPr>
      </p:pic>
      <p:sp>
        <p:nvSpPr>
          <p:cNvPr id="3" name="Text 0"/>
          <p:cNvSpPr/>
          <p:nvPr/>
        </p:nvSpPr>
        <p:spPr>
          <a:xfrm>
            <a:off x="822960" y="1965960"/>
            <a:ext cx="7315200" cy="365760"/>
          </a:xfrm>
          <a:prstGeom prst="rect">
            <a:avLst/>
          </a:prstGeom>
          <a:noFill/>
          <a:ln/>
        </p:spPr>
        <p:txBody>
          <a:bodyPr wrap="square" lIns="0" tIns="0" rIns="0" bIns="0" rtlCol="0" anchor="ctr"/>
          <a:lstStyle/>
          <a:p>
            <a:pPr indent="0" marL="0">
              <a:buNone/>
            </a:pPr>
            <a:r>
              <a:rPr lang="en-US" sz="1300" b="1" spc="300" kern="0" dirty="0">
                <a:solidFill>
                  <a:srgbClr val="C4B5FD"/>
                </a:solidFill>
                <a:latin typeface="Calibri" pitchFamily="34" charset="0"/>
                <a:ea typeface="Calibri" pitchFamily="34" charset="-122"/>
                <a:cs typeface="Calibri" pitchFamily="34" charset="-120"/>
              </a:rPr>
              <a:t>A JCFM INITIATIVE</a:t>
            </a:r>
            <a:endParaRPr lang="en-US" sz="1300" dirty="0"/>
          </a:p>
        </p:txBody>
      </p:sp>
      <p:sp>
        <p:nvSpPr>
          <p:cNvPr id="4" name="Text 1"/>
          <p:cNvSpPr/>
          <p:nvPr/>
        </p:nvSpPr>
        <p:spPr>
          <a:xfrm>
            <a:off x="777240" y="2377440"/>
            <a:ext cx="9601200" cy="1737360"/>
          </a:xfrm>
          <a:prstGeom prst="rect">
            <a:avLst/>
          </a:prstGeom>
          <a:noFill/>
          <a:ln/>
        </p:spPr>
        <p:txBody>
          <a:bodyPr wrap="square" lIns="0" tIns="0" rIns="0" bIns="0" rtlCol="0" anchor="ctr"/>
          <a:lstStyle/>
          <a:p>
            <a:pPr indent="0" marL="0">
              <a:lnSpc>
                <a:spcPts val="5800"/>
              </a:lnSpc>
              <a:buNone/>
            </a:pPr>
            <a:r>
              <a:rPr lang="en-US" sz="5400" b="1" dirty="0">
                <a:solidFill>
                  <a:srgbClr val="FFFFFF"/>
                </a:solidFill>
                <a:latin typeface="Cambria" pitchFamily="34" charset="0"/>
                <a:ea typeface="Cambria" pitchFamily="34" charset="-122"/>
                <a:cs typeface="Cambria" pitchFamily="34" charset="-120"/>
              </a:rPr>
              <a:t>Hope for </a:t>
            </a:r>
            <a:pPr indent="0" marL="0">
              <a:lnSpc>
                <a:spcPts val="5800"/>
              </a:lnSpc>
              <a:buNone/>
            </a:pPr>
            <a:r>
              <a:rPr lang="en-US" sz="5400" b="1" dirty="0">
                <a:solidFill>
                  <a:srgbClr val="C9A961"/>
                </a:solidFill>
                <a:latin typeface="Cambria" pitchFamily="34" charset="0"/>
                <a:ea typeface="Cambria" pitchFamily="34" charset="-122"/>
                <a:cs typeface="Cambria" pitchFamily="34" charset="-120"/>
              </a:rPr>
              <a:t>Young Women</a:t>
            </a:r>
            <a:endParaRPr lang="en-US" sz="5400" dirty="0"/>
          </a:p>
        </p:txBody>
      </p:sp>
      <p:sp>
        <p:nvSpPr>
          <p:cNvPr id="5" name="Text 2"/>
          <p:cNvSpPr/>
          <p:nvPr/>
        </p:nvSpPr>
        <p:spPr>
          <a:xfrm>
            <a:off x="822960" y="4160520"/>
            <a:ext cx="7772400" cy="548640"/>
          </a:xfrm>
          <a:prstGeom prst="rect">
            <a:avLst/>
          </a:prstGeom>
          <a:noFill/>
          <a:ln/>
        </p:spPr>
        <p:txBody>
          <a:bodyPr wrap="square" lIns="0" tIns="0" rIns="0" bIns="0" rtlCol="0" anchor="ctr"/>
          <a:lstStyle/>
          <a:p>
            <a:pPr indent="0" marL="0">
              <a:buNone/>
            </a:pPr>
            <a:r>
              <a:rPr lang="en-US" sz="1900" i="1" dirty="0">
                <a:solidFill>
                  <a:srgbClr val="E5DEFA"/>
                </a:solidFill>
                <a:latin typeface="Calibri" pitchFamily="34" charset="0"/>
                <a:ea typeface="Calibri" pitchFamily="34" charset="-122"/>
                <a:cs typeface="Calibri" pitchFamily="34" charset="-120"/>
              </a:rPr>
              <a:t>Restoring dignity. Rebuilding lives. Showing God’s love.</a:t>
            </a:r>
            <a:endParaRPr lang="en-US" sz="1900" dirty="0"/>
          </a:p>
        </p:txBody>
      </p:sp>
      <p:sp>
        <p:nvSpPr>
          <p:cNvPr id="6" name="Text 3"/>
          <p:cNvSpPr/>
          <p:nvPr/>
        </p:nvSpPr>
        <p:spPr>
          <a:xfrm>
            <a:off x="822960" y="6080760"/>
            <a:ext cx="8229600" cy="365760"/>
          </a:xfrm>
          <a:prstGeom prst="rect">
            <a:avLst/>
          </a:prstGeom>
          <a:noFill/>
          <a:ln/>
        </p:spPr>
        <p:txBody>
          <a:bodyPr wrap="square" lIns="0" tIns="0" rIns="0" bIns="0" rtlCol="0" anchor="ctr"/>
          <a:lstStyle/>
          <a:p>
            <a:pPr indent="0" marL="0">
              <a:buNone/>
            </a:pPr>
            <a:r>
              <a:rPr lang="en-US" sz="1200" dirty="0">
                <a:solidFill>
                  <a:srgbClr val="9F8FE0"/>
                </a:solidFill>
                <a:latin typeface="Calibri" pitchFamily="34" charset="0"/>
                <a:ea typeface="Calibri" pitchFamily="34" charset="-122"/>
                <a:cs typeface="Calibri" pitchFamily="34" charset="-120"/>
              </a:rPr>
              <a:t>A presentation of the updated jcfm.online / hope-for-young-women page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4C1D95"/>
                </a:solidFill>
                <a:latin typeface="Calibri" pitchFamily="34" charset="0"/>
                <a:ea typeface="Calibri" pitchFamily="34" charset="-122"/>
                <a:cs typeface="Calibri" pitchFamily="34" charset="-120"/>
              </a:rPr>
              <a:t>THE NEED WE ANSWER</a:t>
            </a:r>
            <a:endParaRPr lang="en-US" sz="1200" dirty="0"/>
          </a:p>
        </p:txBody>
      </p:sp>
      <p:sp>
        <p:nvSpPr>
          <p:cNvPr id="3" name="Text 1"/>
          <p:cNvSpPr/>
          <p:nvPr/>
        </p:nvSpPr>
        <p:spPr>
          <a:xfrm>
            <a:off x="548640" y="777240"/>
            <a:ext cx="10515600" cy="640080"/>
          </a:xfrm>
          <a:prstGeom prst="rect">
            <a:avLst/>
          </a:prstGeom>
          <a:noFill/>
          <a:ln/>
        </p:spPr>
        <p:txBody>
          <a:bodyPr wrap="square" lIns="0" tIns="0" rIns="0" bIns="0" rtlCol="0" anchor="ctr"/>
          <a:lstStyle/>
          <a:p>
            <a:pPr indent="0" marL="0">
              <a:buNone/>
            </a:pPr>
            <a:r>
              <a:rPr lang="en-US" sz="3000" b="1" dirty="0">
                <a:solidFill>
                  <a:srgbClr val="1E293B"/>
                </a:solidFill>
                <a:latin typeface="Cambria" pitchFamily="34" charset="0"/>
                <a:ea typeface="Cambria" pitchFamily="34" charset="-122"/>
                <a:cs typeface="Cambria" pitchFamily="34" charset="-120"/>
              </a:rPr>
              <a:t>A Story That Repeats Too Often</a:t>
            </a:r>
            <a:endParaRPr lang="en-US" sz="3000" dirty="0"/>
          </a:p>
        </p:txBody>
      </p:sp>
      <p:sp>
        <p:nvSpPr>
          <p:cNvPr id="4" name="Text 2"/>
          <p:cNvSpPr/>
          <p:nvPr/>
        </p:nvSpPr>
        <p:spPr>
          <a:xfrm>
            <a:off x="548640" y="1417320"/>
            <a:ext cx="10607040" cy="640080"/>
          </a:xfrm>
          <a:prstGeom prst="rect">
            <a:avLst/>
          </a:prstGeom>
          <a:noFill/>
          <a:ln/>
        </p:spPr>
        <p:txBody>
          <a:bodyPr wrap="square" lIns="0" tIns="0" rIns="0" bIns="0" rtlCol="0" anchor="ctr"/>
          <a:lstStyle/>
          <a:p>
            <a:pPr indent="0" marL="0">
              <a:lnSpc>
                <a:spcPct val="130000"/>
              </a:lnSpc>
              <a:buNone/>
            </a:pPr>
            <a:r>
              <a:rPr lang="en-US" sz="1400" dirty="0">
                <a:solidFill>
                  <a:srgbClr val="475569"/>
                </a:solidFill>
                <a:latin typeface="Calibri" pitchFamily="34" charset="0"/>
                <a:ea typeface="Calibri" pitchFamily="34" charset="-122"/>
                <a:cs typeface="Calibri" pitchFamily="34" charset="-120"/>
              </a:rPr>
              <a:t>Across our communities, countless young women face hardship that goes unseen — girls pushed into marriage before they are ready, wives widowed too soon, mothers left to carry grief alone.</a:t>
            </a:r>
            <a:endParaRPr lang="en-US" sz="1400" dirty="0"/>
          </a:p>
        </p:txBody>
      </p:sp>
      <p:sp>
        <p:nvSpPr>
          <p:cNvPr id="5" name="Shape 3"/>
          <p:cNvSpPr/>
          <p:nvPr/>
        </p:nvSpPr>
        <p:spPr>
          <a:xfrm>
            <a:off x="548640" y="2331720"/>
            <a:ext cx="2542032" cy="2880360"/>
          </a:xfrm>
          <a:prstGeom prst="roundRect">
            <a:avLst>
              <a:gd name="adj" fmla="val 4317"/>
            </a:avLst>
          </a:prstGeom>
          <a:solidFill>
            <a:srgbClr val="FAFAF8"/>
          </a:solidFill>
          <a:ln w="12700">
            <a:solidFill>
              <a:srgbClr val="E5E7EB"/>
            </a:solidFill>
            <a:prstDash val="solid"/>
          </a:ln>
          <a:effectLst>
            <a:outerShdw sx="100000" sy="100000" kx="0" ky="0" algn="bl" rotWithShape="0" blurRad="127000" dist="38100" dir="5400000">
              <a:srgbClr val="1E1B2E">
                <a:alpha val="18000"/>
              </a:srgbClr>
            </a:outerShdw>
          </a:effectLst>
        </p:spPr>
      </p:sp>
      <p:sp>
        <p:nvSpPr>
          <p:cNvPr id="6" name="Shape 4"/>
          <p:cNvSpPr/>
          <p:nvPr/>
        </p:nvSpPr>
        <p:spPr>
          <a:xfrm>
            <a:off x="1453896" y="2651760"/>
            <a:ext cx="731520" cy="731520"/>
          </a:xfrm>
          <a:prstGeom prst="ellipse">
            <a:avLst/>
          </a:prstGeom>
          <a:solidFill>
            <a:srgbClr val="4C1D95"/>
          </a:solidFill>
          <a:ln/>
        </p:spPr>
      </p:sp>
      <p:pic>
        <p:nvPicPr>
          <p:cNvPr id="7" name="Image 0" descr="icons/heart-handshake.png">    </p:cNvPr>
          <p:cNvPicPr>
            <a:picLocks noChangeAspect="1"/>
          </p:cNvPicPr>
          <p:nvPr/>
        </p:nvPicPr>
        <p:blipFill>
          <a:blip r:embed="rId1"/>
          <a:stretch>
            <a:fillRect/>
          </a:stretch>
        </p:blipFill>
        <p:spPr>
          <a:xfrm>
            <a:off x="1636776" y="2834640"/>
            <a:ext cx="365760" cy="365760"/>
          </a:xfrm>
          <a:prstGeom prst="rect">
            <a:avLst/>
          </a:prstGeom>
        </p:spPr>
      </p:pic>
      <p:sp>
        <p:nvSpPr>
          <p:cNvPr id="8" name="Text 5"/>
          <p:cNvSpPr/>
          <p:nvPr/>
        </p:nvSpPr>
        <p:spPr>
          <a:xfrm>
            <a:off x="685800" y="3566160"/>
            <a:ext cx="2267712" cy="365760"/>
          </a:xfrm>
          <a:prstGeom prst="rect">
            <a:avLst/>
          </a:prstGeom>
          <a:noFill/>
          <a:ln/>
        </p:spPr>
        <p:txBody>
          <a:bodyPr wrap="square" lIns="0" tIns="0" rIns="0" bIns="0" rtlCol="0" anchor="ctr"/>
          <a:lstStyle/>
          <a:p>
            <a:pPr algn="ctr" indent="0" marL="0">
              <a:buNone/>
            </a:pPr>
            <a:r>
              <a:rPr lang="en-US" sz="1500" b="1" dirty="0">
                <a:solidFill>
                  <a:srgbClr val="1E293B"/>
                </a:solidFill>
                <a:latin typeface="Calibri" pitchFamily="34" charset="0"/>
                <a:ea typeface="Calibri" pitchFamily="34" charset="-122"/>
                <a:cs typeface="Calibri" pitchFamily="34" charset="-120"/>
              </a:rPr>
              <a:t>Early Marriage</a:t>
            </a:r>
            <a:endParaRPr lang="en-US" sz="1500" dirty="0"/>
          </a:p>
        </p:txBody>
      </p:sp>
      <p:sp>
        <p:nvSpPr>
          <p:cNvPr id="9" name="Text 6"/>
          <p:cNvSpPr/>
          <p:nvPr/>
        </p:nvSpPr>
        <p:spPr>
          <a:xfrm>
            <a:off x="731520" y="3959352"/>
            <a:ext cx="2176272" cy="1097280"/>
          </a:xfrm>
          <a:prstGeom prst="rect">
            <a:avLst/>
          </a:prstGeom>
          <a:noFill/>
          <a:ln/>
        </p:spPr>
        <p:txBody>
          <a:bodyPr wrap="square" lIns="0" tIns="0" rIns="0" bIns="0" rtlCol="0" anchor="ctr"/>
          <a:lstStyle/>
          <a:p>
            <a:pPr algn="ctr" indent="0" marL="0">
              <a:lnSpc>
                <a:spcPct val="125000"/>
              </a:lnSpc>
              <a:buNone/>
            </a:pPr>
            <a:r>
              <a:rPr lang="en-US" sz="1100" dirty="0">
                <a:solidFill>
                  <a:srgbClr val="475569"/>
                </a:solidFill>
                <a:latin typeface="Calibri" pitchFamily="34" charset="0"/>
                <a:ea typeface="Calibri" pitchFamily="34" charset="-122"/>
                <a:cs typeface="Calibri" pitchFamily="34" charset="-120"/>
              </a:rPr>
              <a:t>Many girls are given in marriage before they are ready to face what life demands.</a:t>
            </a:r>
            <a:endParaRPr lang="en-US" sz="1100" dirty="0"/>
          </a:p>
        </p:txBody>
      </p:sp>
      <p:sp>
        <p:nvSpPr>
          <p:cNvPr id="10" name="Shape 7"/>
          <p:cNvSpPr/>
          <p:nvPr/>
        </p:nvSpPr>
        <p:spPr>
          <a:xfrm>
            <a:off x="3310128" y="2331720"/>
            <a:ext cx="2542032" cy="2880360"/>
          </a:xfrm>
          <a:prstGeom prst="roundRect">
            <a:avLst>
              <a:gd name="adj" fmla="val 4317"/>
            </a:avLst>
          </a:prstGeom>
          <a:solidFill>
            <a:srgbClr val="FAFAF8"/>
          </a:solidFill>
          <a:ln w="12700">
            <a:solidFill>
              <a:srgbClr val="E5E7EB"/>
            </a:solidFill>
            <a:prstDash val="solid"/>
          </a:ln>
          <a:effectLst>
            <a:outerShdw sx="100000" sy="100000" kx="0" ky="0" algn="bl" rotWithShape="0" blurRad="127000" dist="38100" dir="5400000">
              <a:srgbClr val="1E1B2E">
                <a:alpha val="18000"/>
              </a:srgbClr>
            </a:outerShdw>
          </a:effectLst>
        </p:spPr>
      </p:sp>
      <p:sp>
        <p:nvSpPr>
          <p:cNvPr id="11" name="Shape 8"/>
          <p:cNvSpPr/>
          <p:nvPr/>
        </p:nvSpPr>
        <p:spPr>
          <a:xfrm>
            <a:off x="4215384" y="2651760"/>
            <a:ext cx="731520" cy="731520"/>
          </a:xfrm>
          <a:prstGeom prst="ellipse">
            <a:avLst/>
          </a:prstGeom>
          <a:solidFill>
            <a:srgbClr val="4C1D95"/>
          </a:solidFill>
          <a:ln/>
        </p:spPr>
      </p:sp>
      <p:pic>
        <p:nvPicPr>
          <p:cNvPr id="12" name="Image 1" descr="icons/quote.png">    </p:cNvPr>
          <p:cNvPicPr>
            <a:picLocks noChangeAspect="1"/>
          </p:cNvPicPr>
          <p:nvPr/>
        </p:nvPicPr>
        <p:blipFill>
          <a:blip r:embed="rId2"/>
          <a:stretch>
            <a:fillRect/>
          </a:stretch>
        </p:blipFill>
        <p:spPr>
          <a:xfrm>
            <a:off x="4398264" y="2834640"/>
            <a:ext cx="365760" cy="365760"/>
          </a:xfrm>
          <a:prstGeom prst="rect">
            <a:avLst/>
          </a:prstGeom>
        </p:spPr>
      </p:pic>
      <p:sp>
        <p:nvSpPr>
          <p:cNvPr id="13" name="Text 9"/>
          <p:cNvSpPr/>
          <p:nvPr/>
        </p:nvSpPr>
        <p:spPr>
          <a:xfrm>
            <a:off x="3447288" y="3566160"/>
            <a:ext cx="2267712" cy="365760"/>
          </a:xfrm>
          <a:prstGeom prst="rect">
            <a:avLst/>
          </a:prstGeom>
          <a:noFill/>
          <a:ln/>
        </p:spPr>
        <p:txBody>
          <a:bodyPr wrap="square" lIns="0" tIns="0" rIns="0" bIns="0" rtlCol="0" anchor="ctr"/>
          <a:lstStyle/>
          <a:p>
            <a:pPr algn="ctr" indent="0" marL="0">
              <a:buNone/>
            </a:pPr>
            <a:r>
              <a:rPr lang="en-US" sz="1500" b="1" dirty="0">
                <a:solidFill>
                  <a:srgbClr val="1E293B"/>
                </a:solidFill>
                <a:latin typeface="Calibri" pitchFamily="34" charset="0"/>
                <a:ea typeface="Calibri" pitchFamily="34" charset="-122"/>
                <a:cs typeface="Calibri" pitchFamily="34" charset="-120"/>
              </a:rPr>
              <a:t>Loss &amp; Grief</a:t>
            </a:r>
            <a:endParaRPr lang="en-US" sz="1500" dirty="0"/>
          </a:p>
        </p:txBody>
      </p:sp>
      <p:sp>
        <p:nvSpPr>
          <p:cNvPr id="14" name="Text 10"/>
          <p:cNvSpPr/>
          <p:nvPr/>
        </p:nvSpPr>
        <p:spPr>
          <a:xfrm>
            <a:off x="3493008" y="3959352"/>
            <a:ext cx="2176272" cy="1097280"/>
          </a:xfrm>
          <a:prstGeom prst="rect">
            <a:avLst/>
          </a:prstGeom>
          <a:noFill/>
          <a:ln/>
        </p:spPr>
        <p:txBody>
          <a:bodyPr wrap="square" lIns="0" tIns="0" rIns="0" bIns="0" rtlCol="0" anchor="ctr"/>
          <a:lstStyle/>
          <a:p>
            <a:pPr algn="ctr" indent="0" marL="0">
              <a:lnSpc>
                <a:spcPct val="125000"/>
              </a:lnSpc>
              <a:buNone/>
            </a:pPr>
            <a:r>
              <a:rPr lang="en-US" sz="1100" dirty="0">
                <a:solidFill>
                  <a:srgbClr val="475569"/>
                </a:solidFill>
                <a:latin typeface="Calibri" pitchFamily="34" charset="0"/>
                <a:ea typeface="Calibri" pitchFamily="34" charset="-122"/>
                <a:cs typeface="Calibri" pitchFamily="34" charset="-120"/>
              </a:rPr>
              <a:t>The sudden death of a spouse can plunge a woman into overwhelming darkness.</a:t>
            </a:r>
            <a:endParaRPr lang="en-US" sz="1100" dirty="0"/>
          </a:p>
        </p:txBody>
      </p:sp>
      <p:sp>
        <p:nvSpPr>
          <p:cNvPr id="15" name="Shape 11"/>
          <p:cNvSpPr/>
          <p:nvPr/>
        </p:nvSpPr>
        <p:spPr>
          <a:xfrm>
            <a:off x="6071616" y="2331720"/>
            <a:ext cx="2542032" cy="2880360"/>
          </a:xfrm>
          <a:prstGeom prst="roundRect">
            <a:avLst>
              <a:gd name="adj" fmla="val 4317"/>
            </a:avLst>
          </a:prstGeom>
          <a:solidFill>
            <a:srgbClr val="FAFAF8"/>
          </a:solidFill>
          <a:ln w="12700">
            <a:solidFill>
              <a:srgbClr val="E5E7EB"/>
            </a:solidFill>
            <a:prstDash val="solid"/>
          </a:ln>
          <a:effectLst>
            <a:outerShdw sx="100000" sy="100000" kx="0" ky="0" algn="bl" rotWithShape="0" blurRad="127000" dist="38100" dir="5400000">
              <a:srgbClr val="1E1B2E">
                <a:alpha val="18000"/>
              </a:srgbClr>
            </a:outerShdw>
          </a:effectLst>
        </p:spPr>
      </p:sp>
      <p:sp>
        <p:nvSpPr>
          <p:cNvPr id="16" name="Shape 12"/>
          <p:cNvSpPr/>
          <p:nvPr/>
        </p:nvSpPr>
        <p:spPr>
          <a:xfrm>
            <a:off x="6976872" y="2651760"/>
            <a:ext cx="731520" cy="731520"/>
          </a:xfrm>
          <a:prstGeom prst="ellipse">
            <a:avLst/>
          </a:prstGeom>
          <a:solidFill>
            <a:srgbClr val="4C1D95"/>
          </a:solidFill>
          <a:ln/>
        </p:spPr>
      </p:sp>
      <p:pic>
        <p:nvPicPr>
          <p:cNvPr id="17" name="Image 2" descr="icons/users.png">    </p:cNvPr>
          <p:cNvPicPr>
            <a:picLocks noChangeAspect="1"/>
          </p:cNvPicPr>
          <p:nvPr/>
        </p:nvPicPr>
        <p:blipFill>
          <a:blip r:embed="rId3"/>
          <a:stretch>
            <a:fillRect/>
          </a:stretch>
        </p:blipFill>
        <p:spPr>
          <a:xfrm>
            <a:off x="7159752" y="2834640"/>
            <a:ext cx="365760" cy="365760"/>
          </a:xfrm>
          <a:prstGeom prst="rect">
            <a:avLst/>
          </a:prstGeom>
        </p:spPr>
      </p:pic>
      <p:sp>
        <p:nvSpPr>
          <p:cNvPr id="18" name="Text 13"/>
          <p:cNvSpPr/>
          <p:nvPr/>
        </p:nvSpPr>
        <p:spPr>
          <a:xfrm>
            <a:off x="6208776" y="3566160"/>
            <a:ext cx="2267712" cy="365760"/>
          </a:xfrm>
          <a:prstGeom prst="rect">
            <a:avLst/>
          </a:prstGeom>
          <a:noFill/>
          <a:ln/>
        </p:spPr>
        <p:txBody>
          <a:bodyPr wrap="square" lIns="0" tIns="0" rIns="0" bIns="0" rtlCol="0" anchor="ctr"/>
          <a:lstStyle/>
          <a:p>
            <a:pPr algn="ctr" indent="0" marL="0">
              <a:buNone/>
            </a:pPr>
            <a:r>
              <a:rPr lang="en-US" sz="1500" b="1" dirty="0">
                <a:solidFill>
                  <a:srgbClr val="1E293B"/>
                </a:solidFill>
                <a:latin typeface="Calibri" pitchFamily="34" charset="0"/>
                <a:ea typeface="Calibri" pitchFamily="34" charset="-122"/>
                <a:cs typeface="Calibri" pitchFamily="34" charset="-120"/>
              </a:rPr>
              <a:t>Isolation</a:t>
            </a:r>
            <a:endParaRPr lang="en-US" sz="1500" dirty="0"/>
          </a:p>
        </p:txBody>
      </p:sp>
      <p:sp>
        <p:nvSpPr>
          <p:cNvPr id="19" name="Text 14"/>
          <p:cNvSpPr/>
          <p:nvPr/>
        </p:nvSpPr>
        <p:spPr>
          <a:xfrm>
            <a:off x="6254496" y="3959352"/>
            <a:ext cx="2176272" cy="1097280"/>
          </a:xfrm>
          <a:prstGeom prst="rect">
            <a:avLst/>
          </a:prstGeom>
          <a:noFill/>
          <a:ln/>
        </p:spPr>
        <p:txBody>
          <a:bodyPr wrap="square" lIns="0" tIns="0" rIns="0" bIns="0" rtlCol="0" anchor="ctr"/>
          <a:lstStyle/>
          <a:p>
            <a:pPr algn="ctr" indent="0" marL="0">
              <a:lnSpc>
                <a:spcPct val="125000"/>
              </a:lnSpc>
              <a:buNone/>
            </a:pPr>
            <a:r>
              <a:rPr lang="en-US" sz="1100" dirty="0">
                <a:solidFill>
                  <a:srgbClr val="475569"/>
                </a:solidFill>
                <a:latin typeface="Calibri" pitchFamily="34" charset="0"/>
                <a:ea typeface="Calibri" pitchFamily="34" charset="-122"/>
                <a:cs typeface="Calibri" pitchFamily="34" charset="-120"/>
              </a:rPr>
              <a:t>Unprocessed grief often deepens into depression and withdrawal from community.</a:t>
            </a:r>
            <a:endParaRPr lang="en-US" sz="1100" dirty="0"/>
          </a:p>
        </p:txBody>
      </p:sp>
      <p:sp>
        <p:nvSpPr>
          <p:cNvPr id="20" name="Shape 15"/>
          <p:cNvSpPr/>
          <p:nvPr/>
        </p:nvSpPr>
        <p:spPr>
          <a:xfrm>
            <a:off x="8833104" y="2331720"/>
            <a:ext cx="2542032" cy="2880360"/>
          </a:xfrm>
          <a:prstGeom prst="roundRect">
            <a:avLst>
              <a:gd name="adj" fmla="val 4317"/>
            </a:avLst>
          </a:prstGeom>
          <a:solidFill>
            <a:srgbClr val="FAFAF8"/>
          </a:solidFill>
          <a:ln w="12700">
            <a:solidFill>
              <a:srgbClr val="E5E7EB"/>
            </a:solidFill>
            <a:prstDash val="solid"/>
          </a:ln>
          <a:effectLst>
            <a:outerShdw sx="100000" sy="100000" kx="0" ky="0" algn="bl" rotWithShape="0" blurRad="127000" dist="38100" dir="5400000">
              <a:srgbClr val="1E1B2E">
                <a:alpha val="18000"/>
              </a:srgbClr>
            </a:outerShdw>
          </a:effectLst>
        </p:spPr>
      </p:sp>
      <p:sp>
        <p:nvSpPr>
          <p:cNvPr id="21" name="Shape 16"/>
          <p:cNvSpPr/>
          <p:nvPr/>
        </p:nvSpPr>
        <p:spPr>
          <a:xfrm>
            <a:off x="9738360" y="2651760"/>
            <a:ext cx="731520" cy="731520"/>
          </a:xfrm>
          <a:prstGeom prst="ellipse">
            <a:avLst/>
          </a:prstGeom>
          <a:solidFill>
            <a:srgbClr val="4C1D95"/>
          </a:solidFill>
          <a:ln/>
        </p:spPr>
      </p:sp>
      <p:pic>
        <p:nvPicPr>
          <p:cNvPr id="22" name="Image 3" descr="icons/shield.png">    </p:cNvPr>
          <p:cNvPicPr>
            <a:picLocks noChangeAspect="1"/>
          </p:cNvPicPr>
          <p:nvPr/>
        </p:nvPicPr>
        <p:blipFill>
          <a:blip r:embed="rId4"/>
          <a:stretch>
            <a:fillRect/>
          </a:stretch>
        </p:blipFill>
        <p:spPr>
          <a:xfrm>
            <a:off x="9921240" y="2834640"/>
            <a:ext cx="365760" cy="365760"/>
          </a:xfrm>
          <a:prstGeom prst="rect">
            <a:avLst/>
          </a:prstGeom>
        </p:spPr>
      </p:pic>
      <p:sp>
        <p:nvSpPr>
          <p:cNvPr id="23" name="Text 17"/>
          <p:cNvSpPr/>
          <p:nvPr/>
        </p:nvSpPr>
        <p:spPr>
          <a:xfrm>
            <a:off x="8970264" y="3566160"/>
            <a:ext cx="2267712" cy="365760"/>
          </a:xfrm>
          <a:prstGeom prst="rect">
            <a:avLst/>
          </a:prstGeom>
          <a:noFill/>
          <a:ln/>
        </p:spPr>
        <p:txBody>
          <a:bodyPr wrap="square" lIns="0" tIns="0" rIns="0" bIns="0" rtlCol="0" anchor="ctr"/>
          <a:lstStyle/>
          <a:p>
            <a:pPr algn="ctr" indent="0" marL="0">
              <a:buNone/>
            </a:pPr>
            <a:r>
              <a:rPr lang="en-US" sz="1500" b="1" dirty="0">
                <a:solidFill>
                  <a:srgbClr val="1E293B"/>
                </a:solidFill>
                <a:latin typeface="Calibri" pitchFamily="34" charset="0"/>
                <a:ea typeface="Calibri" pitchFamily="34" charset="-122"/>
                <a:cs typeface="Calibri" pitchFamily="34" charset="-120"/>
              </a:rPr>
              <a:t>No Safety Net</a:t>
            </a:r>
            <a:endParaRPr lang="en-US" sz="1500" dirty="0"/>
          </a:p>
        </p:txBody>
      </p:sp>
      <p:sp>
        <p:nvSpPr>
          <p:cNvPr id="24" name="Text 18"/>
          <p:cNvSpPr/>
          <p:nvPr/>
        </p:nvSpPr>
        <p:spPr>
          <a:xfrm>
            <a:off x="9015984" y="3959352"/>
            <a:ext cx="2176272" cy="1097280"/>
          </a:xfrm>
          <a:prstGeom prst="rect">
            <a:avLst/>
          </a:prstGeom>
          <a:noFill/>
          <a:ln/>
        </p:spPr>
        <p:txBody>
          <a:bodyPr wrap="square" lIns="0" tIns="0" rIns="0" bIns="0" rtlCol="0" anchor="ctr"/>
          <a:lstStyle/>
          <a:p>
            <a:pPr algn="ctr" indent="0" marL="0">
              <a:lnSpc>
                <a:spcPct val="125000"/>
              </a:lnSpc>
              <a:buNone/>
            </a:pPr>
            <a:r>
              <a:rPr lang="en-US" sz="1100" dirty="0">
                <a:solidFill>
                  <a:srgbClr val="475569"/>
                </a:solidFill>
                <a:latin typeface="Calibri" pitchFamily="34" charset="0"/>
                <a:ea typeface="Calibri" pitchFamily="34" charset="-122"/>
                <a:cs typeface="Calibri" pitchFamily="34" charset="-120"/>
              </a:rPr>
              <a:t>Without support, vulnerable women can be left with nowhere to turn.</a:t>
            </a:r>
            <a:endParaRPr lang="en-US" sz="1100" dirty="0"/>
          </a:p>
        </p:txBody>
      </p:sp>
      <p:sp>
        <p:nvSpPr>
          <p:cNvPr id="25" name="Text 19"/>
          <p:cNvSpPr/>
          <p:nvPr/>
        </p:nvSpPr>
        <p:spPr>
          <a:xfrm>
            <a:off x="1097280" y="5532120"/>
            <a:ext cx="9966960" cy="548640"/>
          </a:xfrm>
          <a:prstGeom prst="rect">
            <a:avLst/>
          </a:prstGeom>
          <a:noFill/>
          <a:ln/>
        </p:spPr>
        <p:txBody>
          <a:bodyPr wrap="square" lIns="0" tIns="0" rIns="0" bIns="0" rtlCol="0" anchor="ctr"/>
          <a:lstStyle/>
          <a:p>
            <a:pPr algn="ctr" indent="0" marL="0">
              <a:buNone/>
            </a:pPr>
            <a:r>
              <a:rPr lang="en-US" sz="1500" i="1" dirty="0">
                <a:solidFill>
                  <a:srgbClr val="475569"/>
                </a:solidFill>
                <a:latin typeface="Cambria" pitchFamily="34" charset="0"/>
                <a:ea typeface="Cambria" pitchFamily="34" charset="-122"/>
                <a:cs typeface="Cambria" pitchFamily="34" charset="-120"/>
              </a:rPr>
              <a:t>The question is not “Who failed them?” The question is “Who will show up for them now?”</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320040"/>
          </a:xfrm>
          <a:prstGeom prst="rect">
            <a:avLst/>
          </a:prstGeom>
          <a:noFill/>
          <a:ln/>
        </p:spPr>
        <p:txBody>
          <a:bodyPr wrap="square" lIns="0" tIns="0" rIns="0" bIns="0" rtlCol="0" anchor="ctr"/>
          <a:lstStyle/>
          <a:p>
            <a:pPr indent="0" marL="0">
              <a:buNone/>
            </a:pPr>
            <a:r>
              <a:rPr lang="en-US" sz="1200" b="1" spc="200" kern="0" dirty="0">
                <a:solidFill>
                  <a:srgbClr val="4C1D95"/>
                </a:solidFill>
                <a:latin typeface="Calibri" pitchFamily="34" charset="0"/>
                <a:ea typeface="Calibri" pitchFamily="34" charset="-122"/>
                <a:cs typeface="Calibri" pitchFamily="34" charset="-120"/>
              </a:rPr>
              <a:t>WHERE IT BEGAN</a:t>
            </a:r>
            <a:endParaRPr lang="en-US" sz="1200" dirty="0"/>
          </a:p>
        </p:txBody>
      </p:sp>
      <p:sp>
        <p:nvSpPr>
          <p:cNvPr id="3" name="Text 1"/>
          <p:cNvSpPr/>
          <p:nvPr/>
        </p:nvSpPr>
        <p:spPr>
          <a:xfrm>
            <a:off x="548640" y="841248"/>
            <a:ext cx="10515600" cy="640080"/>
          </a:xfrm>
          <a:prstGeom prst="rect">
            <a:avLst/>
          </a:prstGeom>
          <a:noFill/>
          <a:ln/>
        </p:spPr>
        <p:txBody>
          <a:bodyPr wrap="square" lIns="0" tIns="0" rIns="0" bIns="0" rtlCol="0" anchor="ctr"/>
          <a:lstStyle/>
          <a:p>
            <a:pPr indent="0" marL="0">
              <a:buNone/>
            </a:pPr>
            <a:r>
              <a:rPr lang="en-US" sz="3000" b="1" dirty="0">
                <a:solidFill>
                  <a:srgbClr val="1E293B"/>
                </a:solidFill>
                <a:latin typeface="Cambria" pitchFamily="34" charset="0"/>
                <a:ea typeface="Cambria" pitchFamily="34" charset="-122"/>
                <a:cs typeface="Cambria" pitchFamily="34" charset="-120"/>
              </a:rPr>
              <a:t>Pastor Sarah’s Journey</a:t>
            </a:r>
            <a:endParaRPr lang="en-US" sz="3000" dirty="0"/>
          </a:p>
        </p:txBody>
      </p:sp>
      <p:sp>
        <p:nvSpPr>
          <p:cNvPr id="4" name="Text 2"/>
          <p:cNvSpPr/>
          <p:nvPr/>
        </p:nvSpPr>
        <p:spPr>
          <a:xfrm>
            <a:off x="548640" y="1691640"/>
            <a:ext cx="6035040" cy="2377440"/>
          </a:xfrm>
          <a:prstGeom prst="rect">
            <a:avLst/>
          </a:prstGeom>
          <a:noFill/>
          <a:ln/>
        </p:spPr>
        <p:txBody>
          <a:bodyPr wrap="square" lIns="0" tIns="0" rIns="0" bIns="0" rtlCol="0" anchor="ctr"/>
          <a:lstStyle/>
          <a:p>
            <a:pPr indent="0" marL="0">
              <a:lnSpc>
                <a:spcPct val="140000"/>
              </a:lnSpc>
              <a:buNone/>
            </a:pPr>
            <a:r>
              <a:rPr lang="en-US" sz="1600" dirty="0">
                <a:solidFill>
                  <a:srgbClr val="475569"/>
                </a:solidFill>
                <a:latin typeface="Calibri" pitchFamily="34" charset="0"/>
                <a:ea typeface="Calibri" pitchFamily="34" charset="-122"/>
                <a:cs typeface="Calibri" pitchFamily="34" charset="-120"/>
              </a:rPr>
              <a:t>Hope for Young Women was born out of Pastor Sarah’s own journey through hardship, loss, and God’s faithful restoration. Rather than let her story end at its lowest moment, she chose to turn that pain into purpose — and from that conviction, this ministry was born.</a:t>
            </a:r>
            <a:endParaRPr lang="en-US" sz="1600" dirty="0"/>
          </a:p>
        </p:txBody>
      </p:sp>
      <p:sp>
        <p:nvSpPr>
          <p:cNvPr id="5" name="Text 3"/>
          <p:cNvSpPr/>
          <p:nvPr/>
        </p:nvSpPr>
        <p:spPr>
          <a:xfrm>
            <a:off x="548640" y="3977640"/>
            <a:ext cx="6035040" cy="1005840"/>
          </a:xfrm>
          <a:prstGeom prst="rect">
            <a:avLst/>
          </a:prstGeom>
          <a:noFill/>
          <a:ln/>
        </p:spPr>
        <p:txBody>
          <a:bodyPr wrap="square" lIns="0" tIns="0" rIns="0" bIns="0" rtlCol="0" anchor="ctr"/>
          <a:lstStyle/>
          <a:p>
            <a:pPr indent="0" marL="0">
              <a:lnSpc>
                <a:spcPct val="135000"/>
              </a:lnSpc>
              <a:buNone/>
            </a:pPr>
            <a:r>
              <a:rPr lang="en-US" sz="1300" i="1" dirty="0">
                <a:solidFill>
                  <a:srgbClr val="64748B"/>
                </a:solidFill>
                <a:latin typeface="Calibri" pitchFamily="34" charset="0"/>
                <a:ea typeface="Calibri" pitchFamily="34" charset="-122"/>
                <a:cs typeface="Calibri" pitchFamily="34" charset="-120"/>
              </a:rPr>
              <a:t>Pastor Sarah shares her full testimony personally at ministry gatherings and presentations — here, we simply invite you into what her journey inspired.</a:t>
            </a:r>
            <a:endParaRPr lang="en-US" sz="1300" dirty="0"/>
          </a:p>
        </p:txBody>
      </p:sp>
      <p:sp>
        <p:nvSpPr>
          <p:cNvPr id="6" name="Shape 4"/>
          <p:cNvSpPr/>
          <p:nvPr/>
        </p:nvSpPr>
        <p:spPr>
          <a:xfrm>
            <a:off x="6995160" y="1691640"/>
            <a:ext cx="4617720" cy="3291840"/>
          </a:xfrm>
          <a:prstGeom prst="roundRect">
            <a:avLst>
              <a:gd name="adj" fmla="val 3333"/>
            </a:avLst>
          </a:prstGeom>
          <a:solidFill>
            <a:srgbClr val="F7EFDD"/>
          </a:solidFill>
          <a:ln/>
          <a:effectLst>
            <a:outerShdw sx="100000" sy="100000" kx="0" ky="0" algn="bl" rotWithShape="0" blurRad="127000" dist="38100" dir="5400000">
              <a:srgbClr val="1E1B2E">
                <a:alpha val="18000"/>
              </a:srgbClr>
            </a:outerShdw>
          </a:effectLst>
        </p:spPr>
      </p:sp>
      <p:pic>
        <p:nvPicPr>
          <p:cNvPr id="7" name="Image 0" descr="icons/quote.png">    </p:cNvPr>
          <p:cNvPicPr>
            <a:picLocks noChangeAspect="1"/>
          </p:cNvPicPr>
          <p:nvPr/>
        </p:nvPicPr>
        <p:blipFill>
          <a:blip r:embed="rId1">
            <a:alphaModFix amt="75000"/>
          </a:blip>
          <a:stretch>
            <a:fillRect/>
          </a:stretch>
        </p:blipFill>
        <p:spPr>
          <a:xfrm>
            <a:off x="7360920" y="2011680"/>
            <a:ext cx="457200" cy="457200"/>
          </a:xfrm>
          <a:prstGeom prst="rect">
            <a:avLst/>
          </a:prstGeom>
        </p:spPr>
      </p:pic>
      <p:sp>
        <p:nvSpPr>
          <p:cNvPr id="8" name="Text 5"/>
          <p:cNvSpPr/>
          <p:nvPr/>
        </p:nvSpPr>
        <p:spPr>
          <a:xfrm>
            <a:off x="7360920" y="2651760"/>
            <a:ext cx="3886200" cy="1965960"/>
          </a:xfrm>
          <a:prstGeom prst="rect">
            <a:avLst/>
          </a:prstGeom>
          <a:noFill/>
          <a:ln/>
        </p:spPr>
        <p:txBody>
          <a:bodyPr wrap="square" lIns="0" tIns="0" rIns="0" bIns="0" rtlCol="0" anchor="ctr"/>
          <a:lstStyle/>
          <a:p>
            <a:pPr indent="0" marL="0">
              <a:lnSpc>
                <a:spcPct val="135000"/>
              </a:lnSpc>
              <a:buNone/>
            </a:pPr>
            <a:r>
              <a:rPr lang="en-US" sz="2000" i="1" dirty="0">
                <a:solidFill>
                  <a:srgbClr val="5C4A1E"/>
                </a:solidFill>
                <a:latin typeface="Cambria" pitchFamily="34" charset="0"/>
                <a:ea typeface="Cambria" pitchFamily="34" charset="-122"/>
                <a:cs typeface="Cambria" pitchFamily="34" charset="-120"/>
              </a:rPr>
              <a:t>“Every woman deserves a life lived in dignity — not defined by her lowest moment.”</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4C1D95"/>
                </a:solidFill>
                <a:latin typeface="Calibri" pitchFamily="34" charset="0"/>
                <a:ea typeface="Calibri" pitchFamily="34" charset="-122"/>
                <a:cs typeface="Calibri" pitchFamily="34" charset="-120"/>
              </a:rPr>
              <a:t>WHY WE EXIST</a:t>
            </a:r>
            <a:endParaRPr lang="en-US" sz="1200" dirty="0"/>
          </a:p>
        </p:txBody>
      </p:sp>
      <p:sp>
        <p:nvSpPr>
          <p:cNvPr id="3" name="Text 1"/>
          <p:cNvSpPr/>
          <p:nvPr/>
        </p:nvSpPr>
        <p:spPr>
          <a:xfrm>
            <a:off x="548640" y="777240"/>
            <a:ext cx="10515600" cy="640080"/>
          </a:xfrm>
          <a:prstGeom prst="rect">
            <a:avLst/>
          </a:prstGeom>
          <a:noFill/>
          <a:ln/>
        </p:spPr>
        <p:txBody>
          <a:bodyPr wrap="square" lIns="0" tIns="0" rIns="0" bIns="0" rtlCol="0" anchor="ctr"/>
          <a:lstStyle/>
          <a:p>
            <a:pPr indent="0" marL="0">
              <a:buNone/>
            </a:pPr>
            <a:r>
              <a:rPr lang="en-US" sz="3000" b="1" dirty="0">
                <a:solidFill>
                  <a:srgbClr val="1E293B"/>
                </a:solidFill>
                <a:latin typeface="Cambria" pitchFamily="34" charset="0"/>
                <a:ea typeface="Cambria" pitchFamily="34" charset="-122"/>
                <a:cs typeface="Cambria" pitchFamily="34" charset="-120"/>
              </a:rPr>
              <a:t>Our Model: Three Pillars</a:t>
            </a:r>
            <a:endParaRPr lang="en-US" sz="3000" dirty="0"/>
          </a:p>
        </p:txBody>
      </p:sp>
      <p:sp>
        <p:nvSpPr>
          <p:cNvPr id="4" name="Text 2"/>
          <p:cNvSpPr/>
          <p:nvPr/>
        </p:nvSpPr>
        <p:spPr>
          <a:xfrm>
            <a:off x="548640" y="1417320"/>
            <a:ext cx="10058400" cy="457200"/>
          </a:xfrm>
          <a:prstGeom prst="rect">
            <a:avLst/>
          </a:prstGeom>
          <a:noFill/>
          <a:ln/>
        </p:spPr>
        <p:txBody>
          <a:bodyPr wrap="square" lIns="0" tIns="0" rIns="0" bIns="0" rtlCol="0" anchor="ctr"/>
          <a:lstStyle/>
          <a:p>
            <a:pPr indent="0" marL="0">
              <a:buNone/>
            </a:pPr>
            <a:r>
              <a:rPr lang="en-US" sz="1400" dirty="0">
                <a:solidFill>
                  <a:srgbClr val="475569"/>
                </a:solidFill>
                <a:latin typeface="Calibri" pitchFamily="34" charset="0"/>
                <a:ea typeface="Calibri" pitchFamily="34" charset="-122"/>
                <a:cs typeface="Calibri" pitchFamily="34" charset="-120"/>
              </a:rPr>
              <a:t>We meet women in their darkest place and walk with them toward a life restored.</a:t>
            </a:r>
            <a:endParaRPr lang="en-US" sz="1400" dirty="0"/>
          </a:p>
        </p:txBody>
      </p:sp>
      <p:sp>
        <p:nvSpPr>
          <p:cNvPr id="5" name="Shape 3"/>
          <p:cNvSpPr/>
          <p:nvPr/>
        </p:nvSpPr>
        <p:spPr>
          <a:xfrm>
            <a:off x="548640" y="2148840"/>
            <a:ext cx="3429000" cy="3931920"/>
          </a:xfrm>
          <a:prstGeom prst="roundRect">
            <a:avLst>
              <a:gd name="adj" fmla="val 3200"/>
            </a:avLst>
          </a:prstGeom>
          <a:solidFill>
            <a:srgbClr val="FAFAF8"/>
          </a:solidFill>
          <a:ln w="12700">
            <a:solidFill>
              <a:srgbClr val="E5E7EB"/>
            </a:solidFill>
            <a:prstDash val="solid"/>
          </a:ln>
          <a:effectLst>
            <a:outerShdw sx="100000" sy="100000" kx="0" ky="0" algn="bl" rotWithShape="0" blurRad="127000" dist="38100" dir="5400000">
              <a:srgbClr val="1E1B2E">
                <a:alpha val="18000"/>
              </a:srgbClr>
            </a:outerShdw>
          </a:effectLst>
        </p:spPr>
      </p:sp>
      <p:sp>
        <p:nvSpPr>
          <p:cNvPr id="6" name="Shape 4"/>
          <p:cNvSpPr/>
          <p:nvPr/>
        </p:nvSpPr>
        <p:spPr>
          <a:xfrm>
            <a:off x="868680" y="2468880"/>
            <a:ext cx="685800" cy="685800"/>
          </a:xfrm>
          <a:prstGeom prst="ellipse">
            <a:avLst/>
          </a:prstGeom>
          <a:solidFill>
            <a:srgbClr val="4C1D95"/>
          </a:solidFill>
          <a:ln/>
        </p:spPr>
      </p:sp>
      <p:pic>
        <p:nvPicPr>
          <p:cNvPr id="7" name="Image 0" descr="icons/book-open.png">    </p:cNvPr>
          <p:cNvPicPr>
            <a:picLocks noChangeAspect="1"/>
          </p:cNvPicPr>
          <p:nvPr/>
        </p:nvPicPr>
        <p:blipFill>
          <a:blip r:embed="rId1"/>
          <a:stretch>
            <a:fillRect/>
          </a:stretch>
        </p:blipFill>
        <p:spPr>
          <a:xfrm>
            <a:off x="1033272" y="2633472"/>
            <a:ext cx="365760" cy="365760"/>
          </a:xfrm>
          <a:prstGeom prst="rect">
            <a:avLst/>
          </a:prstGeom>
        </p:spPr>
      </p:pic>
      <p:sp>
        <p:nvSpPr>
          <p:cNvPr id="8" name="Text 5"/>
          <p:cNvSpPr/>
          <p:nvPr/>
        </p:nvSpPr>
        <p:spPr>
          <a:xfrm>
            <a:off x="868680" y="3337560"/>
            <a:ext cx="2788920" cy="411480"/>
          </a:xfrm>
          <a:prstGeom prst="rect">
            <a:avLst/>
          </a:prstGeom>
          <a:noFill/>
          <a:ln/>
        </p:spPr>
        <p:txBody>
          <a:bodyPr wrap="square" lIns="0" tIns="0" rIns="0" bIns="0" rtlCol="0" anchor="ctr"/>
          <a:lstStyle/>
          <a:p>
            <a:pPr indent="0" marL="0">
              <a:buNone/>
            </a:pPr>
            <a:r>
              <a:rPr lang="en-US" sz="1900" b="1" dirty="0">
                <a:solidFill>
                  <a:srgbClr val="1E293B"/>
                </a:solidFill>
                <a:latin typeface="Cambria" pitchFamily="34" charset="0"/>
                <a:ea typeface="Cambria" pitchFamily="34" charset="-122"/>
                <a:cs typeface="Cambria" pitchFamily="34" charset="-120"/>
              </a:rPr>
              <a:t>Nurture</a:t>
            </a:r>
            <a:endParaRPr lang="en-US" sz="1900" dirty="0"/>
          </a:p>
        </p:txBody>
      </p:sp>
      <p:sp>
        <p:nvSpPr>
          <p:cNvPr id="9" name="Text 6"/>
          <p:cNvSpPr/>
          <p:nvPr/>
        </p:nvSpPr>
        <p:spPr>
          <a:xfrm>
            <a:off x="868680" y="3776472"/>
            <a:ext cx="2788920" cy="1188720"/>
          </a:xfrm>
          <a:prstGeom prst="rect">
            <a:avLst/>
          </a:prstGeom>
          <a:noFill/>
          <a:ln/>
        </p:spPr>
        <p:txBody>
          <a:bodyPr wrap="square" lIns="0" tIns="0" rIns="0" bIns="0" rtlCol="0" anchor="ctr"/>
          <a:lstStyle/>
          <a:p>
            <a:pPr indent="0" marL="0">
              <a:lnSpc>
                <a:spcPct val="130000"/>
              </a:lnSpc>
              <a:buNone/>
            </a:pPr>
            <a:r>
              <a:rPr lang="en-US" sz="1250" dirty="0">
                <a:solidFill>
                  <a:srgbClr val="475569"/>
                </a:solidFill>
                <a:latin typeface="Calibri" pitchFamily="34" charset="0"/>
                <a:ea typeface="Calibri" pitchFamily="34" charset="-122"/>
                <a:cs typeface="Calibri" pitchFamily="34" charset="-120"/>
              </a:rPr>
              <a:t>Foster personal relationships between young women and God through prayer.</a:t>
            </a:r>
            <a:endParaRPr lang="en-US" sz="1250" dirty="0"/>
          </a:p>
        </p:txBody>
      </p:sp>
      <p:sp>
        <p:nvSpPr>
          <p:cNvPr id="10" name="Text 7"/>
          <p:cNvSpPr/>
          <p:nvPr/>
        </p:nvSpPr>
        <p:spPr>
          <a:xfrm>
            <a:off x="868680" y="5029200"/>
            <a:ext cx="2788920" cy="685800"/>
          </a:xfrm>
          <a:prstGeom prst="rect">
            <a:avLst/>
          </a:prstGeom>
          <a:noFill/>
          <a:ln/>
        </p:spPr>
        <p:txBody>
          <a:bodyPr wrap="square" lIns="0" tIns="0" rIns="0" bIns="0" rtlCol="0" anchor="ctr"/>
          <a:lstStyle/>
          <a:p>
            <a:pPr indent="0" marL="0">
              <a:lnSpc>
                <a:spcPct val="125000"/>
              </a:lnSpc>
              <a:buNone/>
            </a:pPr>
            <a:r>
              <a:rPr lang="en-US" sz="1100" i="1" dirty="0">
                <a:solidFill>
                  <a:srgbClr val="64748B"/>
                </a:solidFill>
                <a:latin typeface="Cambria" pitchFamily="34" charset="0"/>
                <a:ea typeface="Cambria" pitchFamily="34" charset="-122"/>
                <a:cs typeface="Cambria" pitchFamily="34" charset="-120"/>
              </a:rPr>
              <a:t>“Confess your sins to one another and pray for one another, that you may be healed.”</a:t>
            </a:r>
            <a:endParaRPr lang="en-US" sz="1100" dirty="0"/>
          </a:p>
        </p:txBody>
      </p:sp>
      <p:sp>
        <p:nvSpPr>
          <p:cNvPr id="11" name="Text 8"/>
          <p:cNvSpPr/>
          <p:nvPr/>
        </p:nvSpPr>
        <p:spPr>
          <a:xfrm>
            <a:off x="868680" y="5669280"/>
            <a:ext cx="2788920" cy="274320"/>
          </a:xfrm>
          <a:prstGeom prst="rect">
            <a:avLst/>
          </a:prstGeom>
          <a:noFill/>
          <a:ln/>
        </p:spPr>
        <p:txBody>
          <a:bodyPr wrap="square" lIns="0" tIns="0" rIns="0" bIns="0" rtlCol="0" anchor="ctr"/>
          <a:lstStyle/>
          <a:p>
            <a:pPr indent="0" marL="0">
              <a:buNone/>
            </a:pPr>
            <a:r>
              <a:rPr lang="en-US" sz="1000" b="1" spc="150" kern="0" dirty="0">
                <a:solidFill>
                  <a:srgbClr val="C9A961"/>
                </a:solidFill>
                <a:latin typeface="Calibri" pitchFamily="34" charset="0"/>
                <a:ea typeface="Calibri" pitchFamily="34" charset="-122"/>
                <a:cs typeface="Calibri" pitchFamily="34" charset="-120"/>
              </a:rPr>
              <a:t>James 5:16</a:t>
            </a:r>
            <a:endParaRPr lang="en-US" sz="1000" dirty="0"/>
          </a:p>
        </p:txBody>
      </p:sp>
      <p:sp>
        <p:nvSpPr>
          <p:cNvPr id="12" name="Shape 9"/>
          <p:cNvSpPr/>
          <p:nvPr/>
        </p:nvSpPr>
        <p:spPr>
          <a:xfrm>
            <a:off x="4251960" y="2148840"/>
            <a:ext cx="3429000" cy="3931920"/>
          </a:xfrm>
          <a:prstGeom prst="roundRect">
            <a:avLst>
              <a:gd name="adj" fmla="val 3200"/>
            </a:avLst>
          </a:prstGeom>
          <a:solidFill>
            <a:srgbClr val="FAFAF8"/>
          </a:solidFill>
          <a:ln w="12700">
            <a:solidFill>
              <a:srgbClr val="E5E7EB"/>
            </a:solidFill>
            <a:prstDash val="solid"/>
          </a:ln>
          <a:effectLst>
            <a:outerShdw sx="100000" sy="100000" kx="0" ky="0" algn="bl" rotWithShape="0" blurRad="127000" dist="38100" dir="5400000">
              <a:srgbClr val="1E1B2E">
                <a:alpha val="18000"/>
              </a:srgbClr>
            </a:outerShdw>
          </a:effectLst>
        </p:spPr>
      </p:sp>
      <p:sp>
        <p:nvSpPr>
          <p:cNvPr id="13" name="Shape 10"/>
          <p:cNvSpPr/>
          <p:nvPr/>
        </p:nvSpPr>
        <p:spPr>
          <a:xfrm>
            <a:off x="4572000" y="2468880"/>
            <a:ext cx="685800" cy="685800"/>
          </a:xfrm>
          <a:prstGeom prst="ellipse">
            <a:avLst/>
          </a:prstGeom>
          <a:solidFill>
            <a:srgbClr val="4C1D95"/>
          </a:solidFill>
          <a:ln/>
        </p:spPr>
      </p:sp>
      <p:pic>
        <p:nvPicPr>
          <p:cNvPr id="14" name="Image 1" descr="icons/handshake.png">    </p:cNvPr>
          <p:cNvPicPr>
            <a:picLocks noChangeAspect="1"/>
          </p:cNvPicPr>
          <p:nvPr/>
        </p:nvPicPr>
        <p:blipFill>
          <a:blip r:embed="rId2"/>
          <a:stretch>
            <a:fillRect/>
          </a:stretch>
        </p:blipFill>
        <p:spPr>
          <a:xfrm>
            <a:off x="4736592" y="2633472"/>
            <a:ext cx="365760" cy="365760"/>
          </a:xfrm>
          <a:prstGeom prst="rect">
            <a:avLst/>
          </a:prstGeom>
        </p:spPr>
      </p:pic>
      <p:sp>
        <p:nvSpPr>
          <p:cNvPr id="15" name="Text 11"/>
          <p:cNvSpPr/>
          <p:nvPr/>
        </p:nvSpPr>
        <p:spPr>
          <a:xfrm>
            <a:off x="4572000" y="3337560"/>
            <a:ext cx="2788920" cy="411480"/>
          </a:xfrm>
          <a:prstGeom prst="rect">
            <a:avLst/>
          </a:prstGeom>
          <a:noFill/>
          <a:ln/>
        </p:spPr>
        <p:txBody>
          <a:bodyPr wrap="square" lIns="0" tIns="0" rIns="0" bIns="0" rtlCol="0" anchor="ctr"/>
          <a:lstStyle/>
          <a:p>
            <a:pPr indent="0" marL="0">
              <a:buNone/>
            </a:pPr>
            <a:r>
              <a:rPr lang="en-US" sz="1900" b="1" dirty="0">
                <a:solidFill>
                  <a:srgbClr val="1E293B"/>
                </a:solidFill>
                <a:latin typeface="Cambria" pitchFamily="34" charset="0"/>
                <a:ea typeface="Cambria" pitchFamily="34" charset="-122"/>
                <a:cs typeface="Cambria" pitchFamily="34" charset="-120"/>
              </a:rPr>
              <a:t>Mentorship</a:t>
            </a:r>
            <a:endParaRPr lang="en-US" sz="1900" dirty="0"/>
          </a:p>
        </p:txBody>
      </p:sp>
      <p:sp>
        <p:nvSpPr>
          <p:cNvPr id="16" name="Text 12"/>
          <p:cNvSpPr/>
          <p:nvPr/>
        </p:nvSpPr>
        <p:spPr>
          <a:xfrm>
            <a:off x="4572000" y="3776472"/>
            <a:ext cx="2788920" cy="1188720"/>
          </a:xfrm>
          <a:prstGeom prst="rect">
            <a:avLst/>
          </a:prstGeom>
          <a:noFill/>
          <a:ln/>
        </p:spPr>
        <p:txBody>
          <a:bodyPr wrap="square" lIns="0" tIns="0" rIns="0" bIns="0" rtlCol="0" anchor="ctr"/>
          <a:lstStyle/>
          <a:p>
            <a:pPr indent="0" marL="0">
              <a:lnSpc>
                <a:spcPct val="130000"/>
              </a:lnSpc>
              <a:buNone/>
            </a:pPr>
            <a:r>
              <a:rPr lang="en-US" sz="1250" dirty="0">
                <a:solidFill>
                  <a:srgbClr val="475569"/>
                </a:solidFill>
                <a:latin typeface="Calibri" pitchFamily="34" charset="0"/>
                <a:ea typeface="Calibri" pitchFamily="34" charset="-122"/>
                <a:cs typeface="Calibri" pitchFamily="34" charset="-120"/>
              </a:rPr>
              <a:t>Connecting young women with mature mentors who model faith and life convictions.</a:t>
            </a:r>
            <a:endParaRPr lang="en-US" sz="1250" dirty="0"/>
          </a:p>
        </p:txBody>
      </p:sp>
      <p:sp>
        <p:nvSpPr>
          <p:cNvPr id="17" name="Text 13"/>
          <p:cNvSpPr/>
          <p:nvPr/>
        </p:nvSpPr>
        <p:spPr>
          <a:xfrm>
            <a:off x="4572000" y="5029200"/>
            <a:ext cx="2788920" cy="685800"/>
          </a:xfrm>
          <a:prstGeom prst="rect">
            <a:avLst/>
          </a:prstGeom>
          <a:noFill/>
          <a:ln/>
        </p:spPr>
        <p:txBody>
          <a:bodyPr wrap="square" lIns="0" tIns="0" rIns="0" bIns="0" rtlCol="0" anchor="ctr"/>
          <a:lstStyle/>
          <a:p>
            <a:pPr indent="0" marL="0">
              <a:lnSpc>
                <a:spcPct val="125000"/>
              </a:lnSpc>
              <a:buNone/>
            </a:pPr>
            <a:r>
              <a:rPr lang="en-US" sz="1100" i="1" dirty="0">
                <a:solidFill>
                  <a:srgbClr val="64748B"/>
                </a:solidFill>
                <a:latin typeface="Cambria" pitchFamily="34" charset="0"/>
                <a:ea typeface="Cambria" pitchFamily="34" charset="-122"/>
                <a:cs typeface="Cambria" pitchFamily="34" charset="-120"/>
              </a:rPr>
              <a:t>“I can do all things through Christ who strengthens me.”</a:t>
            </a:r>
            <a:endParaRPr lang="en-US" sz="1100" dirty="0"/>
          </a:p>
        </p:txBody>
      </p:sp>
      <p:sp>
        <p:nvSpPr>
          <p:cNvPr id="18" name="Text 14"/>
          <p:cNvSpPr/>
          <p:nvPr/>
        </p:nvSpPr>
        <p:spPr>
          <a:xfrm>
            <a:off x="4572000" y="5669280"/>
            <a:ext cx="2788920" cy="274320"/>
          </a:xfrm>
          <a:prstGeom prst="rect">
            <a:avLst/>
          </a:prstGeom>
          <a:noFill/>
          <a:ln/>
        </p:spPr>
        <p:txBody>
          <a:bodyPr wrap="square" lIns="0" tIns="0" rIns="0" bIns="0" rtlCol="0" anchor="ctr"/>
          <a:lstStyle/>
          <a:p>
            <a:pPr indent="0" marL="0">
              <a:buNone/>
            </a:pPr>
            <a:r>
              <a:rPr lang="en-US" sz="1000" b="1" spc="150" kern="0" dirty="0">
                <a:solidFill>
                  <a:srgbClr val="C9A961"/>
                </a:solidFill>
                <a:latin typeface="Calibri" pitchFamily="34" charset="0"/>
                <a:ea typeface="Calibri" pitchFamily="34" charset="-122"/>
                <a:cs typeface="Calibri" pitchFamily="34" charset="-120"/>
              </a:rPr>
              <a:t>Philippians 4:13</a:t>
            </a:r>
            <a:endParaRPr lang="en-US" sz="1000" dirty="0"/>
          </a:p>
        </p:txBody>
      </p:sp>
      <p:sp>
        <p:nvSpPr>
          <p:cNvPr id="19" name="Shape 15"/>
          <p:cNvSpPr/>
          <p:nvPr/>
        </p:nvSpPr>
        <p:spPr>
          <a:xfrm>
            <a:off x="7955280" y="2148840"/>
            <a:ext cx="3429000" cy="3931920"/>
          </a:xfrm>
          <a:prstGeom prst="roundRect">
            <a:avLst>
              <a:gd name="adj" fmla="val 3200"/>
            </a:avLst>
          </a:prstGeom>
          <a:solidFill>
            <a:srgbClr val="FAFAF8"/>
          </a:solidFill>
          <a:ln w="12700">
            <a:solidFill>
              <a:srgbClr val="E5E7EB"/>
            </a:solidFill>
            <a:prstDash val="solid"/>
          </a:ln>
          <a:effectLst>
            <a:outerShdw sx="100000" sy="100000" kx="0" ky="0" algn="bl" rotWithShape="0" blurRad="127000" dist="38100" dir="5400000">
              <a:srgbClr val="1E1B2E">
                <a:alpha val="18000"/>
              </a:srgbClr>
            </a:outerShdw>
          </a:effectLst>
        </p:spPr>
      </p:sp>
      <p:sp>
        <p:nvSpPr>
          <p:cNvPr id="20" name="Shape 16"/>
          <p:cNvSpPr/>
          <p:nvPr/>
        </p:nvSpPr>
        <p:spPr>
          <a:xfrm>
            <a:off x="8275320" y="2468880"/>
            <a:ext cx="685800" cy="685800"/>
          </a:xfrm>
          <a:prstGeom prst="ellipse">
            <a:avLst/>
          </a:prstGeom>
          <a:solidFill>
            <a:srgbClr val="4C1D95"/>
          </a:solidFill>
          <a:ln/>
        </p:spPr>
      </p:sp>
      <p:pic>
        <p:nvPicPr>
          <p:cNvPr id="21" name="Image 2" descr="icons/seedling.png">    </p:cNvPr>
          <p:cNvPicPr>
            <a:picLocks noChangeAspect="1"/>
          </p:cNvPicPr>
          <p:nvPr/>
        </p:nvPicPr>
        <p:blipFill>
          <a:blip r:embed="rId3"/>
          <a:stretch>
            <a:fillRect/>
          </a:stretch>
        </p:blipFill>
        <p:spPr>
          <a:xfrm>
            <a:off x="8439912" y="2633472"/>
            <a:ext cx="365760" cy="365760"/>
          </a:xfrm>
          <a:prstGeom prst="rect">
            <a:avLst/>
          </a:prstGeom>
        </p:spPr>
      </p:pic>
      <p:sp>
        <p:nvSpPr>
          <p:cNvPr id="22" name="Text 17"/>
          <p:cNvSpPr/>
          <p:nvPr/>
        </p:nvSpPr>
        <p:spPr>
          <a:xfrm>
            <a:off x="8275320" y="3337560"/>
            <a:ext cx="2788920" cy="411480"/>
          </a:xfrm>
          <a:prstGeom prst="rect">
            <a:avLst/>
          </a:prstGeom>
          <a:noFill/>
          <a:ln/>
        </p:spPr>
        <p:txBody>
          <a:bodyPr wrap="square" lIns="0" tIns="0" rIns="0" bIns="0" rtlCol="0" anchor="ctr"/>
          <a:lstStyle/>
          <a:p>
            <a:pPr indent="0" marL="0">
              <a:buNone/>
            </a:pPr>
            <a:r>
              <a:rPr lang="en-US" sz="1900" b="1" dirty="0">
                <a:solidFill>
                  <a:srgbClr val="1E293B"/>
                </a:solidFill>
                <a:latin typeface="Cambria" pitchFamily="34" charset="0"/>
                <a:ea typeface="Cambria" pitchFamily="34" charset="-122"/>
                <a:cs typeface="Cambria" pitchFamily="34" charset="-120"/>
              </a:rPr>
              <a:t>Outreach</a:t>
            </a:r>
            <a:endParaRPr lang="en-US" sz="1900" dirty="0"/>
          </a:p>
        </p:txBody>
      </p:sp>
      <p:sp>
        <p:nvSpPr>
          <p:cNvPr id="23" name="Text 18"/>
          <p:cNvSpPr/>
          <p:nvPr/>
        </p:nvSpPr>
        <p:spPr>
          <a:xfrm>
            <a:off x="8275320" y="3776472"/>
            <a:ext cx="2788920" cy="1188720"/>
          </a:xfrm>
          <a:prstGeom prst="rect">
            <a:avLst/>
          </a:prstGeom>
          <a:noFill/>
          <a:ln/>
        </p:spPr>
        <p:txBody>
          <a:bodyPr wrap="square" lIns="0" tIns="0" rIns="0" bIns="0" rtlCol="0" anchor="ctr"/>
          <a:lstStyle/>
          <a:p>
            <a:pPr indent="0" marL="0">
              <a:lnSpc>
                <a:spcPct val="130000"/>
              </a:lnSpc>
              <a:buNone/>
            </a:pPr>
            <a:r>
              <a:rPr lang="en-US" sz="1250" dirty="0">
                <a:solidFill>
                  <a:srgbClr val="475569"/>
                </a:solidFill>
                <a:latin typeface="Calibri" pitchFamily="34" charset="0"/>
                <a:ea typeface="Calibri" pitchFamily="34" charset="-122"/>
                <a:cs typeface="Calibri" pitchFamily="34" charset="-120"/>
              </a:rPr>
              <a:t>Equipping young women with skills and knowledge to become self-reliant.</a:t>
            </a:r>
            <a:endParaRPr lang="en-US" sz="1250" dirty="0"/>
          </a:p>
        </p:txBody>
      </p:sp>
      <p:sp>
        <p:nvSpPr>
          <p:cNvPr id="24" name="Text 19"/>
          <p:cNvSpPr/>
          <p:nvPr/>
        </p:nvSpPr>
        <p:spPr>
          <a:xfrm>
            <a:off x="8275320" y="5029200"/>
            <a:ext cx="2788920" cy="685800"/>
          </a:xfrm>
          <a:prstGeom prst="rect">
            <a:avLst/>
          </a:prstGeom>
          <a:noFill/>
          <a:ln/>
        </p:spPr>
        <p:txBody>
          <a:bodyPr wrap="square" lIns="0" tIns="0" rIns="0" bIns="0" rtlCol="0" anchor="ctr"/>
          <a:lstStyle/>
          <a:p>
            <a:pPr indent="0" marL="0">
              <a:lnSpc>
                <a:spcPct val="125000"/>
              </a:lnSpc>
              <a:buNone/>
            </a:pPr>
            <a:r>
              <a:rPr lang="en-US" sz="1100" i="1" dirty="0">
                <a:solidFill>
                  <a:srgbClr val="64748B"/>
                </a:solidFill>
                <a:latin typeface="Cambria" pitchFamily="34" charset="0"/>
                <a:ea typeface="Cambria" pitchFamily="34" charset="-122"/>
                <a:cs typeface="Cambria" pitchFamily="34" charset="-120"/>
              </a:rPr>
              <a:t>“The way of a fool is right in his own eyes, but a wise man listens to advice.”</a:t>
            </a:r>
            <a:endParaRPr lang="en-US" sz="1100" dirty="0"/>
          </a:p>
        </p:txBody>
      </p:sp>
      <p:sp>
        <p:nvSpPr>
          <p:cNvPr id="25" name="Text 20"/>
          <p:cNvSpPr/>
          <p:nvPr/>
        </p:nvSpPr>
        <p:spPr>
          <a:xfrm>
            <a:off x="8275320" y="5669280"/>
            <a:ext cx="2788920" cy="274320"/>
          </a:xfrm>
          <a:prstGeom prst="rect">
            <a:avLst/>
          </a:prstGeom>
          <a:noFill/>
          <a:ln/>
        </p:spPr>
        <p:txBody>
          <a:bodyPr wrap="square" lIns="0" tIns="0" rIns="0" bIns="0" rtlCol="0" anchor="ctr"/>
          <a:lstStyle/>
          <a:p>
            <a:pPr indent="0" marL="0">
              <a:buNone/>
            </a:pPr>
            <a:r>
              <a:rPr lang="en-US" sz="1000" b="1" spc="150" kern="0" dirty="0">
                <a:solidFill>
                  <a:srgbClr val="C9A961"/>
                </a:solidFill>
                <a:latin typeface="Calibri" pitchFamily="34" charset="0"/>
                <a:ea typeface="Calibri" pitchFamily="34" charset="-122"/>
                <a:cs typeface="Calibri" pitchFamily="34" charset="-120"/>
              </a:rPr>
              <a:t>Proverbs 18:15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7315200" cy="320040"/>
          </a:xfrm>
          <a:prstGeom prst="rect">
            <a:avLst/>
          </a:prstGeom>
          <a:noFill/>
          <a:ln/>
        </p:spPr>
        <p:txBody>
          <a:bodyPr wrap="square" lIns="0" tIns="0" rIns="0" bIns="0" rtlCol="0" anchor="ctr"/>
          <a:lstStyle/>
          <a:p>
            <a:pPr indent="0" marL="0">
              <a:buNone/>
            </a:pPr>
            <a:r>
              <a:rPr lang="en-US" sz="1200" b="1" spc="200" kern="0" dirty="0">
                <a:solidFill>
                  <a:srgbClr val="4C1D95"/>
                </a:solidFill>
                <a:latin typeface="Calibri" pitchFamily="34" charset="0"/>
                <a:ea typeface="Calibri" pitchFamily="34" charset="-122"/>
                <a:cs typeface="Calibri" pitchFamily="34" charset="-120"/>
              </a:rPr>
              <a:t>WHAT WE DO</a:t>
            </a:r>
            <a:endParaRPr lang="en-US" sz="1200" dirty="0"/>
          </a:p>
        </p:txBody>
      </p:sp>
      <p:sp>
        <p:nvSpPr>
          <p:cNvPr id="3" name="Text 1"/>
          <p:cNvSpPr/>
          <p:nvPr/>
        </p:nvSpPr>
        <p:spPr>
          <a:xfrm>
            <a:off x="548640" y="896112"/>
            <a:ext cx="10515600" cy="640080"/>
          </a:xfrm>
          <a:prstGeom prst="rect">
            <a:avLst/>
          </a:prstGeom>
          <a:noFill/>
          <a:ln/>
        </p:spPr>
        <p:txBody>
          <a:bodyPr wrap="square" lIns="0" tIns="0" rIns="0" bIns="0" rtlCol="0" anchor="ctr"/>
          <a:lstStyle/>
          <a:p>
            <a:pPr indent="0" marL="0">
              <a:buNone/>
            </a:pPr>
            <a:r>
              <a:rPr lang="en-US" sz="3000" b="1" dirty="0">
                <a:solidFill>
                  <a:srgbClr val="1E293B"/>
                </a:solidFill>
                <a:latin typeface="Cambria" pitchFamily="34" charset="0"/>
                <a:ea typeface="Cambria" pitchFamily="34" charset="-122"/>
                <a:cs typeface="Cambria" pitchFamily="34" charset="-120"/>
              </a:rPr>
              <a:t>Walking With Her, Every Month</a:t>
            </a:r>
            <a:endParaRPr lang="en-US" sz="3000" dirty="0"/>
          </a:p>
        </p:txBody>
      </p:sp>
      <p:sp>
        <p:nvSpPr>
          <p:cNvPr id="4" name="Shape 2"/>
          <p:cNvSpPr/>
          <p:nvPr/>
        </p:nvSpPr>
        <p:spPr>
          <a:xfrm>
            <a:off x="548640" y="1920240"/>
            <a:ext cx="5166360" cy="1508760"/>
          </a:xfrm>
          <a:prstGeom prst="roundRect">
            <a:avLst>
              <a:gd name="adj" fmla="val 6061"/>
            </a:avLst>
          </a:prstGeom>
          <a:solidFill>
            <a:srgbClr val="FAFAF8"/>
          </a:solidFill>
          <a:ln w="12700">
            <a:solidFill>
              <a:srgbClr val="E5E7EB"/>
            </a:solidFill>
            <a:prstDash val="solid"/>
          </a:ln>
          <a:effectLst>
            <a:outerShdw sx="100000" sy="100000" kx="0" ky="0" algn="bl" rotWithShape="0" blurRad="127000" dist="38100" dir="5400000">
              <a:srgbClr val="1E1B2E">
                <a:alpha val="18000"/>
              </a:srgbClr>
            </a:outerShdw>
          </a:effectLst>
        </p:spPr>
      </p:sp>
      <p:sp>
        <p:nvSpPr>
          <p:cNvPr id="5" name="Shape 3"/>
          <p:cNvSpPr/>
          <p:nvPr/>
        </p:nvSpPr>
        <p:spPr>
          <a:xfrm>
            <a:off x="822960" y="2354580"/>
            <a:ext cx="640080" cy="640080"/>
          </a:xfrm>
          <a:prstGeom prst="ellipse">
            <a:avLst/>
          </a:prstGeom>
          <a:solidFill>
            <a:srgbClr val="4C1D95"/>
          </a:solidFill>
          <a:ln/>
        </p:spPr>
      </p:sp>
      <p:pic>
        <p:nvPicPr>
          <p:cNvPr id="6" name="Image 0" descr="icons/comment.png">    </p:cNvPr>
          <p:cNvPicPr>
            <a:picLocks noChangeAspect="1"/>
          </p:cNvPicPr>
          <p:nvPr/>
        </p:nvPicPr>
        <p:blipFill>
          <a:blip r:embed="rId1"/>
          <a:stretch>
            <a:fillRect/>
          </a:stretch>
        </p:blipFill>
        <p:spPr>
          <a:xfrm>
            <a:off x="969264" y="2500884"/>
            <a:ext cx="347472" cy="347472"/>
          </a:xfrm>
          <a:prstGeom prst="rect">
            <a:avLst/>
          </a:prstGeom>
        </p:spPr>
      </p:pic>
      <p:sp>
        <p:nvSpPr>
          <p:cNvPr id="7" name="Text 4"/>
          <p:cNvSpPr/>
          <p:nvPr/>
        </p:nvSpPr>
        <p:spPr>
          <a:xfrm>
            <a:off x="1645920" y="2121408"/>
            <a:ext cx="388620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Counseling &amp; Spiritual Support</a:t>
            </a:r>
            <a:endParaRPr lang="en-US" sz="1400" dirty="0"/>
          </a:p>
        </p:txBody>
      </p:sp>
      <p:sp>
        <p:nvSpPr>
          <p:cNvPr id="8" name="Text 5"/>
          <p:cNvSpPr/>
          <p:nvPr/>
        </p:nvSpPr>
        <p:spPr>
          <a:xfrm>
            <a:off x="1645920" y="2514600"/>
            <a:ext cx="3886200" cy="822960"/>
          </a:xfrm>
          <a:prstGeom prst="rect">
            <a:avLst/>
          </a:prstGeom>
          <a:noFill/>
          <a:ln/>
        </p:spPr>
        <p:txBody>
          <a:bodyPr wrap="square" lIns="0" tIns="0" rIns="0" bIns="0" rtlCol="0" anchor="ctr"/>
          <a:lstStyle/>
          <a:p>
            <a:pPr indent="0" marL="0">
              <a:lnSpc>
                <a:spcPct val="125000"/>
              </a:lnSpc>
              <a:buNone/>
            </a:pPr>
            <a:r>
              <a:rPr lang="en-US" sz="1150" dirty="0">
                <a:solidFill>
                  <a:srgbClr val="475569"/>
                </a:solidFill>
                <a:latin typeface="Calibri" pitchFamily="34" charset="0"/>
                <a:ea typeface="Calibri" pitchFamily="34" charset="-122"/>
                <a:cs typeface="Calibri" pitchFamily="34" charset="-120"/>
              </a:rPr>
              <a:t>One-on-one and group support to process grief and rebuild faith.</a:t>
            </a:r>
            <a:endParaRPr lang="en-US" sz="1150" dirty="0"/>
          </a:p>
        </p:txBody>
      </p:sp>
      <p:sp>
        <p:nvSpPr>
          <p:cNvPr id="9" name="Shape 6"/>
          <p:cNvSpPr/>
          <p:nvPr/>
        </p:nvSpPr>
        <p:spPr>
          <a:xfrm>
            <a:off x="6080760" y="1920240"/>
            <a:ext cx="5166360" cy="1508760"/>
          </a:xfrm>
          <a:prstGeom prst="roundRect">
            <a:avLst>
              <a:gd name="adj" fmla="val 6061"/>
            </a:avLst>
          </a:prstGeom>
          <a:solidFill>
            <a:srgbClr val="FAFAF8"/>
          </a:solidFill>
          <a:ln w="12700">
            <a:solidFill>
              <a:srgbClr val="E5E7EB"/>
            </a:solidFill>
            <a:prstDash val="solid"/>
          </a:ln>
          <a:effectLst>
            <a:outerShdw sx="100000" sy="100000" kx="0" ky="0" algn="bl" rotWithShape="0" blurRad="127000" dist="38100" dir="5400000">
              <a:srgbClr val="1E1B2E">
                <a:alpha val="18000"/>
              </a:srgbClr>
            </a:outerShdw>
          </a:effectLst>
        </p:spPr>
      </p:sp>
      <p:sp>
        <p:nvSpPr>
          <p:cNvPr id="10" name="Shape 7"/>
          <p:cNvSpPr/>
          <p:nvPr/>
        </p:nvSpPr>
        <p:spPr>
          <a:xfrm>
            <a:off x="6355080" y="2354580"/>
            <a:ext cx="640080" cy="640080"/>
          </a:xfrm>
          <a:prstGeom prst="ellipse">
            <a:avLst/>
          </a:prstGeom>
          <a:solidFill>
            <a:srgbClr val="4C1D95"/>
          </a:solidFill>
          <a:ln/>
        </p:spPr>
      </p:sp>
      <p:pic>
        <p:nvPicPr>
          <p:cNvPr id="11" name="Image 1" descr="icons/grad-cap.png">    </p:cNvPr>
          <p:cNvPicPr>
            <a:picLocks noChangeAspect="1"/>
          </p:cNvPicPr>
          <p:nvPr/>
        </p:nvPicPr>
        <p:blipFill>
          <a:blip r:embed="rId2"/>
          <a:stretch>
            <a:fillRect/>
          </a:stretch>
        </p:blipFill>
        <p:spPr>
          <a:xfrm>
            <a:off x="6501384" y="2500884"/>
            <a:ext cx="347472" cy="347472"/>
          </a:xfrm>
          <a:prstGeom prst="rect">
            <a:avLst/>
          </a:prstGeom>
        </p:spPr>
      </p:pic>
      <p:sp>
        <p:nvSpPr>
          <p:cNvPr id="12" name="Text 8"/>
          <p:cNvSpPr/>
          <p:nvPr/>
        </p:nvSpPr>
        <p:spPr>
          <a:xfrm>
            <a:off x="7178040" y="2121408"/>
            <a:ext cx="388620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Skills Training &amp; Empowerment</a:t>
            </a:r>
            <a:endParaRPr lang="en-US" sz="1400" dirty="0"/>
          </a:p>
        </p:txBody>
      </p:sp>
      <p:sp>
        <p:nvSpPr>
          <p:cNvPr id="13" name="Text 9"/>
          <p:cNvSpPr/>
          <p:nvPr/>
        </p:nvSpPr>
        <p:spPr>
          <a:xfrm>
            <a:off x="7178040" y="2514600"/>
            <a:ext cx="3886200" cy="822960"/>
          </a:xfrm>
          <a:prstGeom prst="rect">
            <a:avLst/>
          </a:prstGeom>
          <a:noFill/>
          <a:ln/>
        </p:spPr>
        <p:txBody>
          <a:bodyPr wrap="square" lIns="0" tIns="0" rIns="0" bIns="0" rtlCol="0" anchor="ctr"/>
          <a:lstStyle/>
          <a:p>
            <a:pPr indent="0" marL="0">
              <a:lnSpc>
                <a:spcPct val="125000"/>
              </a:lnSpc>
              <a:buNone/>
            </a:pPr>
            <a:r>
              <a:rPr lang="en-US" sz="1150" dirty="0">
                <a:solidFill>
                  <a:srgbClr val="475569"/>
                </a:solidFill>
                <a:latin typeface="Calibri" pitchFamily="34" charset="0"/>
                <a:ea typeface="Calibri" pitchFamily="34" charset="-122"/>
                <a:cs typeface="Calibri" pitchFamily="34" charset="-120"/>
              </a:rPr>
              <a:t>Vocational training and small-business support toward financial independence.</a:t>
            </a:r>
            <a:endParaRPr lang="en-US" sz="1150" dirty="0"/>
          </a:p>
        </p:txBody>
      </p:sp>
      <p:sp>
        <p:nvSpPr>
          <p:cNvPr id="14" name="Shape 10"/>
          <p:cNvSpPr/>
          <p:nvPr/>
        </p:nvSpPr>
        <p:spPr>
          <a:xfrm>
            <a:off x="548640" y="3703320"/>
            <a:ext cx="5166360" cy="1508760"/>
          </a:xfrm>
          <a:prstGeom prst="roundRect">
            <a:avLst>
              <a:gd name="adj" fmla="val 6061"/>
            </a:avLst>
          </a:prstGeom>
          <a:solidFill>
            <a:srgbClr val="FAFAF8"/>
          </a:solidFill>
          <a:ln w="12700">
            <a:solidFill>
              <a:srgbClr val="E5E7EB"/>
            </a:solidFill>
            <a:prstDash val="solid"/>
          </a:ln>
          <a:effectLst>
            <a:outerShdw sx="100000" sy="100000" kx="0" ky="0" algn="bl" rotWithShape="0" blurRad="127000" dist="38100" dir="5400000">
              <a:srgbClr val="1E1B2E">
                <a:alpha val="18000"/>
              </a:srgbClr>
            </a:outerShdw>
          </a:effectLst>
        </p:spPr>
      </p:sp>
      <p:sp>
        <p:nvSpPr>
          <p:cNvPr id="15" name="Shape 11"/>
          <p:cNvSpPr/>
          <p:nvPr/>
        </p:nvSpPr>
        <p:spPr>
          <a:xfrm>
            <a:off x="822960" y="4137660"/>
            <a:ext cx="640080" cy="640080"/>
          </a:xfrm>
          <a:prstGeom prst="ellipse">
            <a:avLst/>
          </a:prstGeom>
          <a:solidFill>
            <a:srgbClr val="4C1D95"/>
          </a:solidFill>
          <a:ln/>
        </p:spPr>
      </p:sp>
      <p:pic>
        <p:nvPicPr>
          <p:cNvPr id="16" name="Image 2" descr="icons/users.png">    </p:cNvPr>
          <p:cNvPicPr>
            <a:picLocks noChangeAspect="1"/>
          </p:cNvPicPr>
          <p:nvPr/>
        </p:nvPicPr>
        <p:blipFill>
          <a:blip r:embed="rId3"/>
          <a:stretch>
            <a:fillRect/>
          </a:stretch>
        </p:blipFill>
        <p:spPr>
          <a:xfrm>
            <a:off x="969264" y="4283964"/>
            <a:ext cx="347472" cy="347472"/>
          </a:xfrm>
          <a:prstGeom prst="rect">
            <a:avLst/>
          </a:prstGeom>
        </p:spPr>
      </p:pic>
      <p:sp>
        <p:nvSpPr>
          <p:cNvPr id="17" name="Text 12"/>
          <p:cNvSpPr/>
          <p:nvPr/>
        </p:nvSpPr>
        <p:spPr>
          <a:xfrm>
            <a:off x="1645920" y="3904488"/>
            <a:ext cx="388620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Community &amp; Mentorship</a:t>
            </a:r>
            <a:endParaRPr lang="en-US" sz="1400" dirty="0"/>
          </a:p>
        </p:txBody>
      </p:sp>
      <p:sp>
        <p:nvSpPr>
          <p:cNvPr id="18" name="Text 13"/>
          <p:cNvSpPr/>
          <p:nvPr/>
        </p:nvSpPr>
        <p:spPr>
          <a:xfrm>
            <a:off x="1645920" y="4297680"/>
            <a:ext cx="3886200" cy="822960"/>
          </a:xfrm>
          <a:prstGeom prst="rect">
            <a:avLst/>
          </a:prstGeom>
          <a:noFill/>
          <a:ln/>
        </p:spPr>
        <p:txBody>
          <a:bodyPr wrap="square" lIns="0" tIns="0" rIns="0" bIns="0" rtlCol="0" anchor="ctr"/>
          <a:lstStyle/>
          <a:p>
            <a:pPr indent="0" marL="0">
              <a:lnSpc>
                <a:spcPct val="125000"/>
              </a:lnSpc>
              <a:buNone/>
            </a:pPr>
            <a:r>
              <a:rPr lang="en-US" sz="1150" dirty="0">
                <a:solidFill>
                  <a:srgbClr val="475569"/>
                </a:solidFill>
                <a:latin typeface="Calibri" pitchFamily="34" charset="0"/>
                <a:ea typeface="Calibri" pitchFamily="34" charset="-122"/>
                <a:cs typeface="Calibri" pitchFamily="34" charset="-120"/>
              </a:rPr>
              <a:t>Support circles where women walk alongside one another as they heal.</a:t>
            </a:r>
            <a:endParaRPr lang="en-US" sz="1150" dirty="0"/>
          </a:p>
        </p:txBody>
      </p:sp>
      <p:sp>
        <p:nvSpPr>
          <p:cNvPr id="19" name="Shape 14"/>
          <p:cNvSpPr/>
          <p:nvPr/>
        </p:nvSpPr>
        <p:spPr>
          <a:xfrm>
            <a:off x="6080760" y="3703320"/>
            <a:ext cx="5166360" cy="1508760"/>
          </a:xfrm>
          <a:prstGeom prst="roundRect">
            <a:avLst>
              <a:gd name="adj" fmla="val 6061"/>
            </a:avLst>
          </a:prstGeom>
          <a:solidFill>
            <a:srgbClr val="FAFAF8"/>
          </a:solidFill>
          <a:ln w="12700">
            <a:solidFill>
              <a:srgbClr val="E5E7EB"/>
            </a:solidFill>
            <a:prstDash val="solid"/>
          </a:ln>
          <a:effectLst>
            <a:outerShdw sx="100000" sy="100000" kx="0" ky="0" algn="bl" rotWithShape="0" blurRad="127000" dist="38100" dir="5400000">
              <a:srgbClr val="1E1B2E">
                <a:alpha val="18000"/>
              </a:srgbClr>
            </a:outerShdw>
          </a:effectLst>
        </p:spPr>
      </p:sp>
      <p:sp>
        <p:nvSpPr>
          <p:cNvPr id="20" name="Shape 15"/>
          <p:cNvSpPr/>
          <p:nvPr/>
        </p:nvSpPr>
        <p:spPr>
          <a:xfrm>
            <a:off x="6355080" y="4137660"/>
            <a:ext cx="640080" cy="640080"/>
          </a:xfrm>
          <a:prstGeom prst="ellipse">
            <a:avLst/>
          </a:prstGeom>
          <a:solidFill>
            <a:srgbClr val="4C1D95"/>
          </a:solidFill>
          <a:ln/>
        </p:spPr>
      </p:sp>
      <p:pic>
        <p:nvPicPr>
          <p:cNvPr id="21" name="Image 3" descr="icons/life-ring.png">    </p:cNvPr>
          <p:cNvPicPr>
            <a:picLocks noChangeAspect="1"/>
          </p:cNvPicPr>
          <p:nvPr/>
        </p:nvPicPr>
        <p:blipFill>
          <a:blip r:embed="rId4"/>
          <a:stretch>
            <a:fillRect/>
          </a:stretch>
        </p:blipFill>
        <p:spPr>
          <a:xfrm>
            <a:off x="6501384" y="4283964"/>
            <a:ext cx="347472" cy="347472"/>
          </a:xfrm>
          <a:prstGeom prst="rect">
            <a:avLst/>
          </a:prstGeom>
        </p:spPr>
      </p:pic>
      <p:sp>
        <p:nvSpPr>
          <p:cNvPr id="22" name="Text 16"/>
          <p:cNvSpPr/>
          <p:nvPr/>
        </p:nvSpPr>
        <p:spPr>
          <a:xfrm>
            <a:off x="7178040" y="3904488"/>
            <a:ext cx="388620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Emergency Support</a:t>
            </a:r>
            <a:endParaRPr lang="en-US" sz="1400" dirty="0"/>
          </a:p>
        </p:txBody>
      </p:sp>
      <p:sp>
        <p:nvSpPr>
          <p:cNvPr id="23" name="Text 17"/>
          <p:cNvSpPr/>
          <p:nvPr/>
        </p:nvSpPr>
        <p:spPr>
          <a:xfrm>
            <a:off x="7178040" y="4297680"/>
            <a:ext cx="3886200" cy="822960"/>
          </a:xfrm>
          <a:prstGeom prst="rect">
            <a:avLst/>
          </a:prstGeom>
          <a:noFill/>
          <a:ln/>
        </p:spPr>
        <p:txBody>
          <a:bodyPr wrap="square" lIns="0" tIns="0" rIns="0" bIns="0" rtlCol="0" anchor="ctr"/>
          <a:lstStyle/>
          <a:p>
            <a:pPr indent="0" marL="0">
              <a:lnSpc>
                <a:spcPct val="125000"/>
              </a:lnSpc>
              <a:buNone/>
            </a:pPr>
            <a:r>
              <a:rPr lang="en-US" sz="1150" dirty="0">
                <a:solidFill>
                  <a:srgbClr val="475569"/>
                </a:solidFill>
                <a:latin typeface="Calibri" pitchFamily="34" charset="0"/>
                <a:ea typeface="Calibri" pitchFamily="34" charset="-122"/>
                <a:cs typeface="Calibri" pitchFamily="34" charset="-120"/>
              </a:rPr>
              <a:t>Immediate practical assistance for widows and women in crisis.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640080" y="685800"/>
            <a:ext cx="5120640" cy="320040"/>
          </a:xfrm>
          <a:prstGeom prst="rect">
            <a:avLst/>
          </a:prstGeom>
          <a:noFill/>
          <a:ln/>
        </p:spPr>
        <p:txBody>
          <a:bodyPr wrap="square" lIns="0" tIns="0" rIns="0" bIns="0" rtlCol="0" anchor="ctr"/>
          <a:lstStyle/>
          <a:p>
            <a:pPr indent="0" marL="0">
              <a:buNone/>
            </a:pPr>
            <a:r>
              <a:rPr lang="en-US" sz="1200" b="1" spc="200" kern="0" dirty="0">
                <a:solidFill>
                  <a:srgbClr val="C9A961"/>
                </a:solidFill>
                <a:latin typeface="Calibri" pitchFamily="34" charset="0"/>
                <a:ea typeface="Calibri" pitchFamily="34" charset="-122"/>
                <a:cs typeface="Calibri" pitchFamily="34" charset="-120"/>
              </a:rPr>
              <a:t>MISSION</a:t>
            </a:r>
            <a:endParaRPr lang="en-US" sz="1200" dirty="0"/>
          </a:p>
        </p:txBody>
      </p:sp>
      <p:sp>
        <p:nvSpPr>
          <p:cNvPr id="3" name="Text 1"/>
          <p:cNvSpPr/>
          <p:nvPr/>
        </p:nvSpPr>
        <p:spPr>
          <a:xfrm>
            <a:off x="640080" y="1051560"/>
            <a:ext cx="5120640" cy="2011680"/>
          </a:xfrm>
          <a:prstGeom prst="rect">
            <a:avLst/>
          </a:prstGeom>
          <a:noFill/>
          <a:ln/>
        </p:spPr>
        <p:txBody>
          <a:bodyPr wrap="square" lIns="0" tIns="0" rIns="0" bIns="0" rtlCol="0" anchor="ctr"/>
          <a:lstStyle/>
          <a:p>
            <a:pPr indent="0" marL="0">
              <a:lnSpc>
                <a:spcPct val="140000"/>
              </a:lnSpc>
              <a:buNone/>
            </a:pPr>
            <a:r>
              <a:rPr lang="en-US" sz="1600" dirty="0">
                <a:solidFill>
                  <a:srgbClr val="E6E9F2"/>
                </a:solidFill>
                <a:latin typeface="Cambria" pitchFamily="34" charset="0"/>
                <a:ea typeface="Cambria" pitchFamily="34" charset="-122"/>
                <a:cs typeface="Cambria" pitchFamily="34" charset="-120"/>
              </a:rPr>
              <a:t>To restore the dignity of young women and the vulnerable through counsel, community, and spiritual support — rebuilding lives marked by hope, and showing them the love of God at every step.</a:t>
            </a:r>
            <a:endParaRPr lang="en-US" sz="1600" dirty="0"/>
          </a:p>
        </p:txBody>
      </p:sp>
      <p:sp>
        <p:nvSpPr>
          <p:cNvPr id="4" name="Text 2"/>
          <p:cNvSpPr/>
          <p:nvPr/>
        </p:nvSpPr>
        <p:spPr>
          <a:xfrm>
            <a:off x="6309360" y="685800"/>
            <a:ext cx="5120640" cy="320040"/>
          </a:xfrm>
          <a:prstGeom prst="rect">
            <a:avLst/>
          </a:prstGeom>
          <a:noFill/>
          <a:ln/>
        </p:spPr>
        <p:txBody>
          <a:bodyPr wrap="square" lIns="0" tIns="0" rIns="0" bIns="0" rtlCol="0" anchor="ctr"/>
          <a:lstStyle/>
          <a:p>
            <a:pPr indent="0" marL="0">
              <a:buNone/>
            </a:pPr>
            <a:r>
              <a:rPr lang="en-US" sz="1200" b="1" spc="200" kern="0" dirty="0">
                <a:solidFill>
                  <a:srgbClr val="C9A961"/>
                </a:solidFill>
                <a:latin typeface="Calibri" pitchFamily="34" charset="0"/>
                <a:ea typeface="Calibri" pitchFamily="34" charset="-122"/>
                <a:cs typeface="Calibri" pitchFamily="34" charset="-120"/>
              </a:rPr>
              <a:t>VISION</a:t>
            </a:r>
            <a:endParaRPr lang="en-US" sz="1200" dirty="0"/>
          </a:p>
        </p:txBody>
      </p:sp>
      <p:sp>
        <p:nvSpPr>
          <p:cNvPr id="5" name="Text 3"/>
          <p:cNvSpPr/>
          <p:nvPr/>
        </p:nvSpPr>
        <p:spPr>
          <a:xfrm>
            <a:off x="6309360" y="1051560"/>
            <a:ext cx="5120640" cy="2011680"/>
          </a:xfrm>
          <a:prstGeom prst="rect">
            <a:avLst/>
          </a:prstGeom>
          <a:noFill/>
          <a:ln/>
        </p:spPr>
        <p:txBody>
          <a:bodyPr wrap="square" lIns="0" tIns="0" rIns="0" bIns="0" rtlCol="0" anchor="ctr"/>
          <a:lstStyle/>
          <a:p>
            <a:pPr indent="0" marL="0">
              <a:lnSpc>
                <a:spcPct val="140000"/>
              </a:lnSpc>
              <a:buNone/>
            </a:pPr>
            <a:r>
              <a:rPr lang="en-US" sz="1600" dirty="0">
                <a:solidFill>
                  <a:srgbClr val="E6E9F2"/>
                </a:solidFill>
                <a:latin typeface="Cambria" pitchFamily="34" charset="0"/>
                <a:ea typeface="Cambria" pitchFamily="34" charset="-122"/>
                <a:cs typeface="Cambria" pitchFamily="34" charset="-120"/>
              </a:rPr>
              <a:t>A community where no young woman sees hardship as the end of her story — where every woman knows a life of dignity, purpose, and God’s love is still hers to live.</a:t>
            </a:r>
            <a:endParaRPr lang="en-US" sz="1600" dirty="0"/>
          </a:p>
        </p:txBody>
      </p:sp>
      <p:sp>
        <p:nvSpPr>
          <p:cNvPr id="6" name="Shape 4"/>
          <p:cNvSpPr/>
          <p:nvPr/>
        </p:nvSpPr>
        <p:spPr>
          <a:xfrm>
            <a:off x="640080" y="3977640"/>
            <a:ext cx="2468880" cy="868680"/>
          </a:xfrm>
          <a:prstGeom prst="roundRect">
            <a:avLst>
              <a:gd name="adj" fmla="val 14737"/>
            </a:avLst>
          </a:prstGeom>
          <a:solidFill>
            <a:srgbClr val="FFFFFF">
              <a:alpha val="8000"/>
            </a:srgbClr>
          </a:solidFill>
          <a:ln w="15875">
            <a:solidFill>
              <a:srgbClr val="C9A961"/>
            </a:solidFill>
            <a:prstDash val="solid"/>
          </a:ln>
        </p:spPr>
      </p:sp>
      <p:sp>
        <p:nvSpPr>
          <p:cNvPr id="7" name="Text 5"/>
          <p:cNvSpPr/>
          <p:nvPr/>
        </p:nvSpPr>
        <p:spPr>
          <a:xfrm>
            <a:off x="640080" y="3977640"/>
            <a:ext cx="2468880" cy="868680"/>
          </a:xfrm>
          <a:prstGeom prst="rect">
            <a:avLst/>
          </a:prstGeom>
          <a:noFill/>
          <a:ln/>
        </p:spPr>
        <p:txBody>
          <a:bodyPr wrap="square" lIns="0" tIns="0" rIns="0" bIns="0" rtlCol="0" anchor="ctr"/>
          <a:lstStyle/>
          <a:p>
            <a:pPr algn="ctr" indent="0" marL="0">
              <a:buNone/>
            </a:pPr>
            <a:r>
              <a:rPr lang="en-US" sz="1500" b="1" spc="200" kern="0" dirty="0">
                <a:solidFill>
                  <a:srgbClr val="C9A961"/>
                </a:solidFill>
                <a:latin typeface="Cambria" pitchFamily="34" charset="0"/>
                <a:ea typeface="Cambria" pitchFamily="34" charset="-122"/>
                <a:cs typeface="Cambria" pitchFamily="34" charset="-120"/>
              </a:rPr>
              <a:t>Dignity</a:t>
            </a:r>
            <a:endParaRPr lang="en-US" sz="1500" dirty="0"/>
          </a:p>
        </p:txBody>
      </p:sp>
      <p:sp>
        <p:nvSpPr>
          <p:cNvPr id="8" name="Shape 6"/>
          <p:cNvSpPr/>
          <p:nvPr/>
        </p:nvSpPr>
        <p:spPr>
          <a:xfrm>
            <a:off x="3364992" y="3977640"/>
            <a:ext cx="2468880" cy="868680"/>
          </a:xfrm>
          <a:prstGeom prst="roundRect">
            <a:avLst>
              <a:gd name="adj" fmla="val 14737"/>
            </a:avLst>
          </a:prstGeom>
          <a:solidFill>
            <a:srgbClr val="FFFFFF">
              <a:alpha val="8000"/>
            </a:srgbClr>
          </a:solidFill>
          <a:ln w="15875">
            <a:solidFill>
              <a:srgbClr val="C9A961"/>
            </a:solidFill>
            <a:prstDash val="solid"/>
          </a:ln>
        </p:spPr>
      </p:sp>
      <p:sp>
        <p:nvSpPr>
          <p:cNvPr id="9" name="Text 7"/>
          <p:cNvSpPr/>
          <p:nvPr/>
        </p:nvSpPr>
        <p:spPr>
          <a:xfrm>
            <a:off x="3364992" y="3977640"/>
            <a:ext cx="2468880" cy="868680"/>
          </a:xfrm>
          <a:prstGeom prst="rect">
            <a:avLst/>
          </a:prstGeom>
          <a:noFill/>
          <a:ln/>
        </p:spPr>
        <p:txBody>
          <a:bodyPr wrap="square" lIns="0" tIns="0" rIns="0" bIns="0" rtlCol="0" anchor="ctr"/>
          <a:lstStyle/>
          <a:p>
            <a:pPr algn="ctr" indent="0" marL="0">
              <a:buNone/>
            </a:pPr>
            <a:r>
              <a:rPr lang="en-US" sz="1500" b="1" spc="200" kern="0" dirty="0">
                <a:solidFill>
                  <a:srgbClr val="C9A961"/>
                </a:solidFill>
                <a:latin typeface="Cambria" pitchFamily="34" charset="0"/>
                <a:ea typeface="Cambria" pitchFamily="34" charset="-122"/>
                <a:cs typeface="Cambria" pitchFamily="34" charset="-120"/>
              </a:rPr>
              <a:t>Restoration</a:t>
            </a:r>
            <a:endParaRPr lang="en-US" sz="1500" dirty="0"/>
          </a:p>
        </p:txBody>
      </p:sp>
      <p:sp>
        <p:nvSpPr>
          <p:cNvPr id="10" name="Shape 8"/>
          <p:cNvSpPr/>
          <p:nvPr/>
        </p:nvSpPr>
        <p:spPr>
          <a:xfrm>
            <a:off x="6089904" y="3977640"/>
            <a:ext cx="2468880" cy="868680"/>
          </a:xfrm>
          <a:prstGeom prst="roundRect">
            <a:avLst>
              <a:gd name="adj" fmla="val 14737"/>
            </a:avLst>
          </a:prstGeom>
          <a:solidFill>
            <a:srgbClr val="FFFFFF">
              <a:alpha val="8000"/>
            </a:srgbClr>
          </a:solidFill>
          <a:ln w="15875">
            <a:solidFill>
              <a:srgbClr val="C9A961"/>
            </a:solidFill>
            <a:prstDash val="solid"/>
          </a:ln>
        </p:spPr>
      </p:sp>
      <p:sp>
        <p:nvSpPr>
          <p:cNvPr id="11" name="Text 9"/>
          <p:cNvSpPr/>
          <p:nvPr/>
        </p:nvSpPr>
        <p:spPr>
          <a:xfrm>
            <a:off x="6089904" y="3977640"/>
            <a:ext cx="2468880" cy="868680"/>
          </a:xfrm>
          <a:prstGeom prst="rect">
            <a:avLst/>
          </a:prstGeom>
          <a:noFill/>
          <a:ln/>
        </p:spPr>
        <p:txBody>
          <a:bodyPr wrap="square" lIns="0" tIns="0" rIns="0" bIns="0" rtlCol="0" anchor="ctr"/>
          <a:lstStyle/>
          <a:p>
            <a:pPr algn="ctr" indent="0" marL="0">
              <a:buNone/>
            </a:pPr>
            <a:r>
              <a:rPr lang="en-US" sz="1500" b="1" spc="200" kern="0" dirty="0">
                <a:solidFill>
                  <a:srgbClr val="C9A961"/>
                </a:solidFill>
                <a:latin typeface="Cambria" pitchFamily="34" charset="0"/>
                <a:ea typeface="Cambria" pitchFamily="34" charset="-122"/>
                <a:cs typeface="Cambria" pitchFamily="34" charset="-120"/>
              </a:rPr>
              <a:t>Community</a:t>
            </a:r>
            <a:endParaRPr lang="en-US" sz="1500" dirty="0"/>
          </a:p>
        </p:txBody>
      </p:sp>
      <p:sp>
        <p:nvSpPr>
          <p:cNvPr id="12" name="Shape 10"/>
          <p:cNvSpPr/>
          <p:nvPr/>
        </p:nvSpPr>
        <p:spPr>
          <a:xfrm>
            <a:off x="8814816" y="3977640"/>
            <a:ext cx="2468880" cy="868680"/>
          </a:xfrm>
          <a:prstGeom prst="roundRect">
            <a:avLst>
              <a:gd name="adj" fmla="val 14737"/>
            </a:avLst>
          </a:prstGeom>
          <a:solidFill>
            <a:srgbClr val="FFFFFF">
              <a:alpha val="8000"/>
            </a:srgbClr>
          </a:solidFill>
          <a:ln w="15875">
            <a:solidFill>
              <a:srgbClr val="C9A961"/>
            </a:solidFill>
            <a:prstDash val="solid"/>
          </a:ln>
        </p:spPr>
      </p:sp>
      <p:sp>
        <p:nvSpPr>
          <p:cNvPr id="13" name="Text 11"/>
          <p:cNvSpPr/>
          <p:nvPr/>
        </p:nvSpPr>
        <p:spPr>
          <a:xfrm>
            <a:off x="8814816" y="3977640"/>
            <a:ext cx="2468880" cy="868680"/>
          </a:xfrm>
          <a:prstGeom prst="rect">
            <a:avLst/>
          </a:prstGeom>
          <a:noFill/>
          <a:ln/>
        </p:spPr>
        <p:txBody>
          <a:bodyPr wrap="square" lIns="0" tIns="0" rIns="0" bIns="0" rtlCol="0" anchor="ctr"/>
          <a:lstStyle/>
          <a:p>
            <a:pPr algn="ctr" indent="0" marL="0">
              <a:buNone/>
            </a:pPr>
            <a:r>
              <a:rPr lang="en-US" sz="1500" b="1" spc="200" kern="0" dirty="0">
                <a:solidFill>
                  <a:srgbClr val="C9A961"/>
                </a:solidFill>
                <a:latin typeface="Cambria" pitchFamily="34" charset="0"/>
                <a:ea typeface="Cambria" pitchFamily="34" charset="-122"/>
                <a:cs typeface="Cambria" pitchFamily="34" charset="-120"/>
              </a:rPr>
              <a:t>Faith</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4C1D95"/>
        </a:solidFill>
      </p:bgPr>
    </p:bg>
    <p:spTree>
      <p:nvGrpSpPr>
        <p:cNvPr id="1" name=""/>
        <p:cNvGrpSpPr/>
        <p:nvPr/>
      </p:nvGrpSpPr>
      <p:grpSpPr>
        <a:xfrm>
          <a:off x="0" y="0"/>
          <a:ext cx="0" cy="0"/>
          <a:chOff x="0" y="0"/>
          <a:chExt cx="0" cy="0"/>
        </a:xfrm>
      </p:grpSpPr>
      <p:pic>
        <p:nvPicPr>
          <p:cNvPr id="2" name="Image 0" descr="icons/quote.png">    </p:cNvPr>
          <p:cNvPicPr>
            <a:picLocks noChangeAspect="1"/>
          </p:cNvPicPr>
          <p:nvPr/>
        </p:nvPicPr>
        <p:blipFill>
          <a:blip r:embed="rId1">
            <a:alphaModFix amt="85000"/>
          </a:blip>
          <a:stretch>
            <a:fillRect/>
          </a:stretch>
        </p:blipFill>
        <p:spPr>
          <a:xfrm>
            <a:off x="5774436" y="822960"/>
            <a:ext cx="640080" cy="640080"/>
          </a:xfrm>
          <a:prstGeom prst="rect">
            <a:avLst/>
          </a:prstGeom>
        </p:spPr>
      </p:pic>
      <p:sp>
        <p:nvSpPr>
          <p:cNvPr id="3" name="Text 0"/>
          <p:cNvSpPr/>
          <p:nvPr/>
        </p:nvSpPr>
        <p:spPr>
          <a:xfrm>
            <a:off x="1280160" y="1828800"/>
            <a:ext cx="9601200" cy="2377440"/>
          </a:xfrm>
          <a:prstGeom prst="rect">
            <a:avLst/>
          </a:prstGeom>
          <a:noFill/>
          <a:ln/>
        </p:spPr>
        <p:txBody>
          <a:bodyPr wrap="square" lIns="0" tIns="0" rIns="0" bIns="0" rtlCol="0" anchor="ctr"/>
          <a:lstStyle/>
          <a:p>
            <a:pPr algn="ctr" indent="0" marL="0">
              <a:lnSpc>
                <a:spcPct val="145000"/>
              </a:lnSpc>
              <a:buNone/>
            </a:pPr>
            <a:r>
              <a:rPr lang="en-US" sz="2200" i="1" dirty="0">
                <a:solidFill>
                  <a:srgbClr val="F1EEFB"/>
                </a:solidFill>
                <a:latin typeface="Cambria" pitchFamily="34" charset="0"/>
                <a:ea typeface="Cambria" pitchFamily="34" charset="-122"/>
                <a:cs typeface="Cambria" pitchFamily="34" charset="-120"/>
              </a:rPr>
              <a:t>One young woman we walked with faced a second pregnancy while still finishing school — a season when many around her said she should quit. We stayed with her instead: through hospital visits, back into the classroom, all the way to a certificate in Accounts and Computer Studies.</a:t>
            </a:r>
            <a:endParaRPr lang="en-US" sz="2200" dirty="0"/>
          </a:p>
        </p:txBody>
      </p:sp>
      <p:sp>
        <p:nvSpPr>
          <p:cNvPr id="4" name="Text 1"/>
          <p:cNvSpPr/>
          <p:nvPr/>
        </p:nvSpPr>
        <p:spPr>
          <a:xfrm>
            <a:off x="2011680" y="4434840"/>
            <a:ext cx="8138160" cy="914400"/>
          </a:xfrm>
          <a:prstGeom prst="rect">
            <a:avLst/>
          </a:prstGeom>
          <a:noFill/>
          <a:ln/>
        </p:spPr>
        <p:txBody>
          <a:bodyPr wrap="square" lIns="0" tIns="0" rIns="0" bIns="0" rtlCol="0" anchor="ctr"/>
          <a:lstStyle/>
          <a:p>
            <a:pPr algn="ctr" indent="0" marL="0">
              <a:lnSpc>
                <a:spcPct val="135000"/>
              </a:lnSpc>
              <a:buNone/>
            </a:pPr>
            <a:r>
              <a:rPr lang="en-US" sz="1500" dirty="0">
                <a:solidFill>
                  <a:srgbClr val="C4B5FD"/>
                </a:solidFill>
                <a:latin typeface="Calibri" pitchFamily="34" charset="0"/>
                <a:ea typeface="Calibri" pitchFamily="34" charset="-122"/>
                <a:cs typeface="Calibri" pitchFamily="34" charset="-120"/>
              </a:rPr>
              <a:t>Today she is working, raising her children, and telling her own testimony to other young women who feel like their story is over.</a:t>
            </a:r>
            <a:endParaRPr lang="en-US" sz="1500" dirty="0"/>
          </a:p>
        </p:txBody>
      </p:sp>
      <p:sp>
        <p:nvSpPr>
          <p:cNvPr id="5" name="Text 2"/>
          <p:cNvSpPr/>
          <p:nvPr/>
        </p:nvSpPr>
        <p:spPr>
          <a:xfrm>
            <a:off x="0" y="5852160"/>
            <a:ext cx="12188952" cy="365760"/>
          </a:xfrm>
          <a:prstGeom prst="rect">
            <a:avLst/>
          </a:prstGeom>
          <a:noFill/>
          <a:ln/>
        </p:spPr>
        <p:txBody>
          <a:bodyPr wrap="square" lIns="0" tIns="0" rIns="0" bIns="0" rtlCol="0" anchor="ctr"/>
          <a:lstStyle/>
          <a:p>
            <a:pPr algn="ctr" indent="0" marL="0">
              <a:buNone/>
            </a:pPr>
            <a:r>
              <a:rPr lang="en-US" sz="1200" b="1" spc="300" kern="0" dirty="0">
                <a:solidFill>
                  <a:srgbClr val="C9A961"/>
                </a:solidFill>
                <a:latin typeface="Calibri" pitchFamily="34" charset="0"/>
                <a:ea typeface="Calibri" pitchFamily="34" charset="-122"/>
                <a:cs typeface="Calibri" pitchFamily="34" charset="-120"/>
              </a:rPr>
              <a:t>A LIFE RESTORED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591556" y="548640"/>
            <a:ext cx="914400" cy="914400"/>
          </a:xfrm>
          <a:prstGeom prst="ellipse">
            <a:avLst/>
          </a:prstGeom>
          <a:solidFill>
            <a:srgbClr val="4C1D95"/>
          </a:solidFill>
          <a:ln/>
        </p:spPr>
      </p:sp>
      <p:pic>
        <p:nvPicPr>
          <p:cNvPr id="3" name="Image 0" descr="icons/hands-helping.png">    </p:cNvPr>
          <p:cNvPicPr>
            <a:picLocks noChangeAspect="1"/>
          </p:cNvPicPr>
          <p:nvPr/>
        </p:nvPicPr>
        <p:blipFill>
          <a:blip r:embed="rId1"/>
          <a:stretch>
            <a:fillRect/>
          </a:stretch>
        </p:blipFill>
        <p:spPr>
          <a:xfrm>
            <a:off x="5774436" y="731520"/>
            <a:ext cx="548640" cy="548640"/>
          </a:xfrm>
          <a:prstGeom prst="rect">
            <a:avLst/>
          </a:prstGeom>
        </p:spPr>
      </p:pic>
      <p:sp>
        <p:nvSpPr>
          <p:cNvPr id="4" name="Text 1"/>
          <p:cNvSpPr/>
          <p:nvPr/>
        </p:nvSpPr>
        <p:spPr>
          <a:xfrm>
            <a:off x="0" y="1691640"/>
            <a:ext cx="12188952" cy="1188720"/>
          </a:xfrm>
          <a:prstGeom prst="rect">
            <a:avLst/>
          </a:prstGeom>
          <a:noFill/>
          <a:ln/>
        </p:spPr>
        <p:txBody>
          <a:bodyPr wrap="square" lIns="0" tIns="0" rIns="0" bIns="0" rtlCol="0" anchor="ctr"/>
          <a:lstStyle/>
          <a:p>
            <a:pPr algn="ctr" indent="0" marL="0">
              <a:buNone/>
            </a:pPr>
            <a:r>
              <a:rPr lang="en-US" sz="7200" b="1" dirty="0">
                <a:solidFill>
                  <a:srgbClr val="C9A961"/>
                </a:solidFill>
                <a:latin typeface="Cambria" pitchFamily="34" charset="0"/>
                <a:ea typeface="Cambria" pitchFamily="34" charset="-122"/>
                <a:cs typeface="Cambria" pitchFamily="34" charset="-120"/>
              </a:rPr>
              <a:t>1,000</a:t>
            </a:r>
            <a:endParaRPr lang="en-US" sz="7200" dirty="0"/>
          </a:p>
        </p:txBody>
      </p:sp>
      <p:sp>
        <p:nvSpPr>
          <p:cNvPr id="5" name="Text 2"/>
          <p:cNvSpPr/>
          <p:nvPr/>
        </p:nvSpPr>
        <p:spPr>
          <a:xfrm>
            <a:off x="2194560" y="2926080"/>
            <a:ext cx="7772400" cy="548640"/>
          </a:xfrm>
          <a:prstGeom prst="rect">
            <a:avLst/>
          </a:prstGeom>
          <a:noFill/>
          <a:ln/>
        </p:spPr>
        <p:txBody>
          <a:bodyPr wrap="square" lIns="0" tIns="0" rIns="0" bIns="0" rtlCol="0" anchor="ctr"/>
          <a:lstStyle/>
          <a:p>
            <a:pPr algn="ctr" indent="0" marL="0">
              <a:buNone/>
            </a:pPr>
            <a:r>
              <a:rPr lang="en-US" sz="1700" dirty="0">
                <a:solidFill>
                  <a:srgbClr val="475569"/>
                </a:solidFill>
                <a:latin typeface="Calibri" pitchFamily="34" charset="0"/>
                <a:ea typeface="Calibri" pitchFamily="34" charset="-122"/>
                <a:cs typeface="Calibri" pitchFamily="34" charset="-120"/>
              </a:rPr>
              <a:t>young women we aim to walk with over the next five years</a:t>
            </a:r>
            <a:endParaRPr lang="en-US" sz="1700" dirty="0"/>
          </a:p>
        </p:txBody>
      </p:sp>
      <p:sp>
        <p:nvSpPr>
          <p:cNvPr id="6" name="Text 3"/>
          <p:cNvSpPr/>
          <p:nvPr/>
        </p:nvSpPr>
        <p:spPr>
          <a:xfrm>
            <a:off x="2377440" y="3611880"/>
            <a:ext cx="7406640" cy="731520"/>
          </a:xfrm>
          <a:prstGeom prst="rect">
            <a:avLst/>
          </a:prstGeom>
          <a:noFill/>
          <a:ln/>
        </p:spPr>
        <p:txBody>
          <a:bodyPr wrap="square" lIns="0" tIns="0" rIns="0" bIns="0" rtlCol="0" anchor="ctr"/>
          <a:lstStyle/>
          <a:p>
            <a:pPr algn="ctr" indent="0" marL="0">
              <a:lnSpc>
                <a:spcPct val="130000"/>
              </a:lnSpc>
              <a:buNone/>
            </a:pPr>
            <a:r>
              <a:rPr lang="en-US" sz="1300" dirty="0">
                <a:solidFill>
                  <a:srgbClr val="64748B"/>
                </a:solidFill>
                <a:latin typeface="Calibri" pitchFamily="34" charset="0"/>
                <a:ea typeface="Calibri" pitchFamily="34" charset="-122"/>
                <a:cs typeface="Calibri" pitchFamily="34" charset="-120"/>
              </a:rPr>
              <a:t>We believe when one young woman is restored, a generation is lifted — spiritually rooted, skilled, confident, and giving back.</a:t>
            </a:r>
            <a:endParaRPr lang="en-US" sz="1300" dirty="0"/>
          </a:p>
        </p:txBody>
      </p:sp>
      <p:sp>
        <p:nvSpPr>
          <p:cNvPr id="7" name="Shape 4"/>
          <p:cNvSpPr/>
          <p:nvPr/>
        </p:nvSpPr>
        <p:spPr>
          <a:xfrm>
            <a:off x="3108960" y="4617720"/>
            <a:ext cx="5943600" cy="1371600"/>
          </a:xfrm>
          <a:prstGeom prst="roundRect">
            <a:avLst>
              <a:gd name="adj" fmla="val 8000"/>
            </a:avLst>
          </a:prstGeom>
          <a:solidFill>
            <a:srgbClr val="F7EFDD"/>
          </a:solidFill>
          <a:ln/>
        </p:spPr>
      </p:sp>
      <p:sp>
        <p:nvSpPr>
          <p:cNvPr id="8" name="Text 5"/>
          <p:cNvSpPr/>
          <p:nvPr/>
        </p:nvSpPr>
        <p:spPr>
          <a:xfrm>
            <a:off x="3383280" y="4800600"/>
            <a:ext cx="5394960" cy="502920"/>
          </a:xfrm>
          <a:prstGeom prst="rect">
            <a:avLst/>
          </a:prstGeom>
          <a:noFill/>
          <a:ln/>
        </p:spPr>
        <p:txBody>
          <a:bodyPr wrap="square" lIns="0" tIns="0" rIns="0" bIns="0" rtlCol="0" anchor="ctr"/>
          <a:lstStyle/>
          <a:p>
            <a:pPr algn="ctr" indent="0" marL="0">
              <a:buNone/>
            </a:pPr>
            <a:r>
              <a:rPr lang="en-US" sz="1600" i="1" dirty="0">
                <a:solidFill>
                  <a:srgbClr val="5C4A1E"/>
                </a:solidFill>
                <a:latin typeface="Cambria" pitchFamily="34" charset="0"/>
                <a:ea typeface="Cambria" pitchFamily="34" charset="-122"/>
                <a:cs typeface="Cambria" pitchFamily="34" charset="-120"/>
              </a:rPr>
              <a:t>“Do not despise small beginnings.”</a:t>
            </a:r>
            <a:endParaRPr lang="en-US" sz="1600" dirty="0"/>
          </a:p>
        </p:txBody>
      </p:sp>
      <p:sp>
        <p:nvSpPr>
          <p:cNvPr id="9" name="Text 6"/>
          <p:cNvSpPr/>
          <p:nvPr/>
        </p:nvSpPr>
        <p:spPr>
          <a:xfrm>
            <a:off x="3383280" y="5349240"/>
            <a:ext cx="5394960" cy="457200"/>
          </a:xfrm>
          <a:prstGeom prst="rect">
            <a:avLst/>
          </a:prstGeom>
          <a:noFill/>
          <a:ln/>
        </p:spPr>
        <p:txBody>
          <a:bodyPr wrap="square" lIns="0" tIns="0" rIns="0" bIns="0" rtlCol="0" anchor="ctr"/>
          <a:lstStyle/>
          <a:p>
            <a:pPr algn="ctr" indent="0" marL="0">
              <a:buNone/>
            </a:pPr>
            <a:r>
              <a:rPr lang="en-US" sz="1150" b="1" spc="50" kern="0" dirty="0">
                <a:solidFill>
                  <a:srgbClr val="4C1D95"/>
                </a:solidFill>
                <a:latin typeface="Calibri" pitchFamily="34" charset="0"/>
                <a:ea typeface="Calibri" pitchFamily="34" charset="-122"/>
                <a:cs typeface="Calibri" pitchFamily="34" charset="-120"/>
              </a:rPr>
              <a:t>Zechariah 4:10 — We are starting small. But we are starting.</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4C1D95"/>
                </a:solidFill>
                <a:latin typeface="Calibri" pitchFamily="34" charset="0"/>
                <a:ea typeface="Calibri" pitchFamily="34" charset="-122"/>
                <a:cs typeface="Calibri" pitchFamily="34" charset="-120"/>
              </a:rPr>
              <a:t>HOW YOU CAN PARTNER</a:t>
            </a:r>
            <a:endParaRPr lang="en-US" sz="1200" dirty="0"/>
          </a:p>
        </p:txBody>
      </p:sp>
      <p:sp>
        <p:nvSpPr>
          <p:cNvPr id="3" name="Text 1"/>
          <p:cNvSpPr/>
          <p:nvPr/>
        </p:nvSpPr>
        <p:spPr>
          <a:xfrm>
            <a:off x="548640" y="777240"/>
            <a:ext cx="5943600" cy="548640"/>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Walk With Us</a:t>
            </a:r>
            <a:endParaRPr lang="en-US" sz="2800" dirty="0"/>
          </a:p>
        </p:txBody>
      </p:sp>
      <p:sp>
        <p:nvSpPr>
          <p:cNvPr id="4" name="Shape 2"/>
          <p:cNvSpPr/>
          <p:nvPr/>
        </p:nvSpPr>
        <p:spPr>
          <a:xfrm>
            <a:off x="548640" y="1508760"/>
            <a:ext cx="5943600" cy="1051560"/>
          </a:xfrm>
          <a:prstGeom prst="roundRect">
            <a:avLst>
              <a:gd name="adj" fmla="val 8696"/>
            </a:avLst>
          </a:prstGeom>
          <a:solidFill>
            <a:srgbClr val="FAFAF8"/>
          </a:solidFill>
          <a:ln w="12700">
            <a:solidFill>
              <a:srgbClr val="E5E7EB"/>
            </a:solidFill>
            <a:prstDash val="solid"/>
          </a:ln>
        </p:spPr>
      </p:sp>
      <p:sp>
        <p:nvSpPr>
          <p:cNvPr id="5" name="Text 3"/>
          <p:cNvSpPr/>
          <p:nvPr/>
        </p:nvSpPr>
        <p:spPr>
          <a:xfrm>
            <a:off x="777240" y="1618488"/>
            <a:ext cx="5486400" cy="320040"/>
          </a:xfrm>
          <a:prstGeom prst="rect">
            <a:avLst/>
          </a:prstGeom>
          <a:noFill/>
          <a:ln/>
        </p:spPr>
        <p:txBody>
          <a:bodyPr wrap="square" lIns="0" tIns="0" rIns="0" bIns="0" rtlCol="0" anchor="ctr"/>
          <a:lstStyle/>
          <a:p>
            <a:pPr indent="0" marL="0">
              <a:buNone/>
            </a:pPr>
            <a:r>
              <a:rPr lang="en-US" sz="1350" b="1" dirty="0">
                <a:solidFill>
                  <a:srgbClr val="1E293B"/>
                </a:solidFill>
                <a:latin typeface="Calibri" pitchFamily="34" charset="0"/>
                <a:ea typeface="Calibri" pitchFamily="34" charset="-122"/>
                <a:cs typeface="Calibri" pitchFamily="34" charset="-120"/>
              </a:rPr>
              <a:t>Prayer Partner</a:t>
            </a:r>
            <a:endParaRPr lang="en-US" sz="1350" dirty="0"/>
          </a:p>
        </p:txBody>
      </p:sp>
      <p:sp>
        <p:nvSpPr>
          <p:cNvPr id="6" name="Text 4"/>
          <p:cNvSpPr/>
          <p:nvPr/>
        </p:nvSpPr>
        <p:spPr>
          <a:xfrm>
            <a:off x="777240" y="1947672"/>
            <a:ext cx="5486400" cy="548640"/>
          </a:xfrm>
          <a:prstGeom prst="rect">
            <a:avLst/>
          </a:prstGeom>
          <a:noFill/>
          <a:ln/>
        </p:spPr>
        <p:txBody>
          <a:bodyPr wrap="square" lIns="0" tIns="0" rIns="0" bIns="0" rtlCol="0" anchor="ctr"/>
          <a:lstStyle/>
          <a:p>
            <a:pPr indent="0" marL="0">
              <a:lnSpc>
                <a:spcPct val="120000"/>
              </a:lnSpc>
              <a:buNone/>
            </a:pPr>
            <a:r>
              <a:rPr lang="en-US" sz="1100" dirty="0">
                <a:solidFill>
                  <a:srgbClr val="475569"/>
                </a:solidFill>
                <a:latin typeface="Calibri" pitchFamily="34" charset="0"/>
                <a:ea typeface="Calibri" pitchFamily="34" charset="-122"/>
                <a:cs typeface="Calibri" pitchFamily="34" charset="-120"/>
              </a:rPr>
              <a:t>Cover a small circle of young women in prayer for 30 days. No cost — just a committed heart.</a:t>
            </a:r>
            <a:endParaRPr lang="en-US" sz="1100" dirty="0"/>
          </a:p>
        </p:txBody>
      </p:sp>
      <p:sp>
        <p:nvSpPr>
          <p:cNvPr id="7" name="Shape 5"/>
          <p:cNvSpPr/>
          <p:nvPr/>
        </p:nvSpPr>
        <p:spPr>
          <a:xfrm>
            <a:off x="548640" y="2715768"/>
            <a:ext cx="5943600" cy="1051560"/>
          </a:xfrm>
          <a:prstGeom prst="roundRect">
            <a:avLst>
              <a:gd name="adj" fmla="val 8696"/>
            </a:avLst>
          </a:prstGeom>
          <a:solidFill>
            <a:srgbClr val="FAFAF8"/>
          </a:solidFill>
          <a:ln w="12700">
            <a:solidFill>
              <a:srgbClr val="E5E7EB"/>
            </a:solidFill>
            <a:prstDash val="solid"/>
          </a:ln>
        </p:spPr>
      </p:sp>
      <p:sp>
        <p:nvSpPr>
          <p:cNvPr id="8" name="Text 6"/>
          <p:cNvSpPr/>
          <p:nvPr/>
        </p:nvSpPr>
        <p:spPr>
          <a:xfrm>
            <a:off x="777240" y="2825496"/>
            <a:ext cx="5486400" cy="320040"/>
          </a:xfrm>
          <a:prstGeom prst="rect">
            <a:avLst/>
          </a:prstGeom>
          <a:noFill/>
          <a:ln/>
        </p:spPr>
        <p:txBody>
          <a:bodyPr wrap="square" lIns="0" tIns="0" rIns="0" bIns="0" rtlCol="0" anchor="ctr"/>
          <a:lstStyle/>
          <a:p>
            <a:pPr indent="0" marL="0">
              <a:buNone/>
            </a:pPr>
            <a:r>
              <a:rPr lang="en-US" sz="1350" b="1" dirty="0">
                <a:solidFill>
                  <a:srgbClr val="1E293B"/>
                </a:solidFill>
                <a:latin typeface="Calibri" pitchFamily="34" charset="0"/>
                <a:ea typeface="Calibri" pitchFamily="34" charset="-122"/>
                <a:cs typeface="Calibri" pitchFamily="34" charset="-120"/>
              </a:rPr>
              <a:t>Education Partner</a:t>
            </a:r>
            <a:endParaRPr lang="en-US" sz="1350" dirty="0"/>
          </a:p>
        </p:txBody>
      </p:sp>
      <p:sp>
        <p:nvSpPr>
          <p:cNvPr id="9" name="Text 7"/>
          <p:cNvSpPr/>
          <p:nvPr/>
        </p:nvSpPr>
        <p:spPr>
          <a:xfrm>
            <a:off x="777240" y="3154680"/>
            <a:ext cx="5486400" cy="548640"/>
          </a:xfrm>
          <a:prstGeom prst="rect">
            <a:avLst/>
          </a:prstGeom>
          <a:noFill/>
          <a:ln/>
        </p:spPr>
        <p:txBody>
          <a:bodyPr wrap="square" lIns="0" tIns="0" rIns="0" bIns="0" rtlCol="0" anchor="ctr"/>
          <a:lstStyle/>
          <a:p>
            <a:pPr indent="0" marL="0">
              <a:lnSpc>
                <a:spcPct val="120000"/>
              </a:lnSpc>
              <a:buNone/>
            </a:pPr>
            <a:r>
              <a:rPr lang="en-US" sz="1100" dirty="0">
                <a:solidFill>
                  <a:srgbClr val="475569"/>
                </a:solidFill>
                <a:latin typeface="Calibri" pitchFamily="34" charset="0"/>
                <a:ea typeface="Calibri" pitchFamily="34" charset="-122"/>
                <a:cs typeface="Calibri" pitchFamily="34" charset="-120"/>
              </a:rPr>
              <a:t>Help sponsor school fees, materials, or transport for a young woman continuing her education.</a:t>
            </a:r>
            <a:endParaRPr lang="en-US" sz="1100" dirty="0"/>
          </a:p>
        </p:txBody>
      </p:sp>
      <p:sp>
        <p:nvSpPr>
          <p:cNvPr id="10" name="Shape 8"/>
          <p:cNvSpPr/>
          <p:nvPr/>
        </p:nvSpPr>
        <p:spPr>
          <a:xfrm>
            <a:off x="548640" y="3922776"/>
            <a:ext cx="5943600" cy="1051560"/>
          </a:xfrm>
          <a:prstGeom prst="roundRect">
            <a:avLst>
              <a:gd name="adj" fmla="val 8696"/>
            </a:avLst>
          </a:prstGeom>
          <a:solidFill>
            <a:srgbClr val="FAFAF8"/>
          </a:solidFill>
          <a:ln w="12700">
            <a:solidFill>
              <a:srgbClr val="E5E7EB"/>
            </a:solidFill>
            <a:prstDash val="solid"/>
          </a:ln>
        </p:spPr>
      </p:sp>
      <p:sp>
        <p:nvSpPr>
          <p:cNvPr id="11" name="Text 9"/>
          <p:cNvSpPr/>
          <p:nvPr/>
        </p:nvSpPr>
        <p:spPr>
          <a:xfrm>
            <a:off x="777240" y="4032504"/>
            <a:ext cx="5486400" cy="320040"/>
          </a:xfrm>
          <a:prstGeom prst="rect">
            <a:avLst/>
          </a:prstGeom>
          <a:noFill/>
          <a:ln/>
        </p:spPr>
        <p:txBody>
          <a:bodyPr wrap="square" lIns="0" tIns="0" rIns="0" bIns="0" rtlCol="0" anchor="ctr"/>
          <a:lstStyle/>
          <a:p>
            <a:pPr indent="0" marL="0">
              <a:buNone/>
            </a:pPr>
            <a:r>
              <a:rPr lang="en-US" sz="1350" b="1" dirty="0">
                <a:solidFill>
                  <a:srgbClr val="1E293B"/>
                </a:solidFill>
                <a:latin typeface="Calibri" pitchFamily="34" charset="0"/>
                <a:ea typeface="Calibri" pitchFamily="34" charset="-122"/>
                <a:cs typeface="Calibri" pitchFamily="34" charset="-120"/>
              </a:rPr>
              <a:t>Empowerment Partner</a:t>
            </a:r>
            <a:endParaRPr lang="en-US" sz="1350" dirty="0"/>
          </a:p>
        </p:txBody>
      </p:sp>
      <p:sp>
        <p:nvSpPr>
          <p:cNvPr id="12" name="Text 10"/>
          <p:cNvSpPr/>
          <p:nvPr/>
        </p:nvSpPr>
        <p:spPr>
          <a:xfrm>
            <a:off x="777240" y="4361688"/>
            <a:ext cx="5486400" cy="548640"/>
          </a:xfrm>
          <a:prstGeom prst="rect">
            <a:avLst/>
          </a:prstGeom>
          <a:noFill/>
          <a:ln/>
        </p:spPr>
        <p:txBody>
          <a:bodyPr wrap="square" lIns="0" tIns="0" rIns="0" bIns="0" rtlCol="0" anchor="ctr"/>
          <a:lstStyle/>
          <a:p>
            <a:pPr indent="0" marL="0">
              <a:lnSpc>
                <a:spcPct val="120000"/>
              </a:lnSpc>
              <a:buNone/>
            </a:pPr>
            <a:r>
              <a:rPr lang="en-US" sz="1100" dirty="0">
                <a:solidFill>
                  <a:srgbClr val="475569"/>
                </a:solidFill>
                <a:latin typeface="Calibri" pitchFamily="34" charset="0"/>
                <a:ea typeface="Calibri" pitchFamily="34" charset="-122"/>
                <a:cs typeface="Calibri" pitchFamily="34" charset="-120"/>
              </a:rPr>
              <a:t>Help sponsor a young woman through a skills or vocational course toward independence.</a:t>
            </a:r>
            <a:endParaRPr lang="en-US" sz="1100" dirty="0"/>
          </a:p>
        </p:txBody>
      </p:sp>
      <p:sp>
        <p:nvSpPr>
          <p:cNvPr id="13" name="Shape 11"/>
          <p:cNvSpPr/>
          <p:nvPr/>
        </p:nvSpPr>
        <p:spPr>
          <a:xfrm>
            <a:off x="548640" y="5129784"/>
            <a:ext cx="5943600" cy="1051560"/>
          </a:xfrm>
          <a:prstGeom prst="roundRect">
            <a:avLst>
              <a:gd name="adj" fmla="val 8696"/>
            </a:avLst>
          </a:prstGeom>
          <a:solidFill>
            <a:srgbClr val="FAFAF8"/>
          </a:solidFill>
          <a:ln w="12700">
            <a:solidFill>
              <a:srgbClr val="E5E7EB"/>
            </a:solidFill>
            <a:prstDash val="solid"/>
          </a:ln>
        </p:spPr>
      </p:sp>
      <p:sp>
        <p:nvSpPr>
          <p:cNvPr id="14" name="Text 12"/>
          <p:cNvSpPr/>
          <p:nvPr/>
        </p:nvSpPr>
        <p:spPr>
          <a:xfrm>
            <a:off x="777240" y="5239512"/>
            <a:ext cx="5486400" cy="320040"/>
          </a:xfrm>
          <a:prstGeom prst="rect">
            <a:avLst/>
          </a:prstGeom>
          <a:noFill/>
          <a:ln/>
        </p:spPr>
        <p:txBody>
          <a:bodyPr wrap="square" lIns="0" tIns="0" rIns="0" bIns="0" rtlCol="0" anchor="ctr"/>
          <a:lstStyle/>
          <a:p>
            <a:pPr indent="0" marL="0">
              <a:buNone/>
            </a:pPr>
            <a:r>
              <a:rPr lang="en-US" sz="1350" b="1" dirty="0">
                <a:solidFill>
                  <a:srgbClr val="1E293B"/>
                </a:solidFill>
                <a:latin typeface="Calibri" pitchFamily="34" charset="0"/>
                <a:ea typeface="Calibri" pitchFamily="34" charset="-122"/>
                <a:cs typeface="Calibri" pitchFamily="34" charset="-120"/>
              </a:rPr>
              <a:t>Hope Builder</a:t>
            </a:r>
            <a:endParaRPr lang="en-US" sz="1350" dirty="0"/>
          </a:p>
        </p:txBody>
      </p:sp>
      <p:sp>
        <p:nvSpPr>
          <p:cNvPr id="15" name="Text 13"/>
          <p:cNvSpPr/>
          <p:nvPr/>
        </p:nvSpPr>
        <p:spPr>
          <a:xfrm>
            <a:off x="777240" y="5568696"/>
            <a:ext cx="5486400" cy="548640"/>
          </a:xfrm>
          <a:prstGeom prst="rect">
            <a:avLst/>
          </a:prstGeom>
          <a:noFill/>
          <a:ln/>
        </p:spPr>
        <p:txBody>
          <a:bodyPr wrap="square" lIns="0" tIns="0" rIns="0" bIns="0" rtlCol="0" anchor="ctr"/>
          <a:lstStyle/>
          <a:p>
            <a:pPr indent="0" marL="0">
              <a:lnSpc>
                <a:spcPct val="120000"/>
              </a:lnSpc>
              <a:buNone/>
            </a:pPr>
            <a:r>
              <a:rPr lang="en-US" sz="1100" dirty="0">
                <a:solidFill>
                  <a:srgbClr val="475569"/>
                </a:solidFill>
                <a:latin typeface="Calibri" pitchFamily="34" charset="0"/>
                <a:ea typeface="Calibri" pitchFamily="34" charset="-122"/>
                <a:cs typeface="Calibri" pitchFamily="34" charset="-120"/>
              </a:rPr>
              <a:t>Help launch a new mentorship circle — and a team of mentors — in another community.</a:t>
            </a:r>
            <a:endParaRPr lang="en-US" sz="1100" dirty="0"/>
          </a:p>
        </p:txBody>
      </p:sp>
      <p:sp>
        <p:nvSpPr>
          <p:cNvPr id="16" name="Shape 14"/>
          <p:cNvSpPr/>
          <p:nvPr/>
        </p:nvSpPr>
        <p:spPr>
          <a:xfrm>
            <a:off x="6858000" y="777240"/>
            <a:ext cx="4800600" cy="5440680"/>
          </a:xfrm>
          <a:prstGeom prst="roundRect">
            <a:avLst>
              <a:gd name="adj" fmla="val 2667"/>
            </a:avLst>
          </a:prstGeom>
          <a:solidFill>
            <a:srgbClr val="4C1D95"/>
          </a:solidFill>
          <a:ln/>
          <a:effectLst>
            <a:outerShdw sx="100000" sy="100000" kx="0" ky="0" algn="bl" rotWithShape="0" blurRad="127000" dist="38100" dir="5400000">
              <a:srgbClr val="1E1B2E">
                <a:alpha val="18000"/>
              </a:srgbClr>
            </a:outerShdw>
          </a:effectLst>
        </p:spPr>
      </p:sp>
      <p:sp>
        <p:nvSpPr>
          <p:cNvPr id="17" name="Text 15"/>
          <p:cNvSpPr/>
          <p:nvPr/>
        </p:nvSpPr>
        <p:spPr>
          <a:xfrm>
            <a:off x="7178040" y="1051560"/>
            <a:ext cx="4206240" cy="320040"/>
          </a:xfrm>
          <a:prstGeom prst="rect">
            <a:avLst/>
          </a:prstGeom>
          <a:noFill/>
          <a:ln/>
        </p:spPr>
        <p:txBody>
          <a:bodyPr wrap="square" lIns="0" tIns="0" rIns="0" bIns="0" rtlCol="0" anchor="ctr"/>
          <a:lstStyle/>
          <a:p>
            <a:pPr indent="0" marL="0">
              <a:buNone/>
            </a:pPr>
            <a:r>
              <a:rPr lang="en-US" sz="1200" b="1" spc="200" kern="0" dirty="0">
                <a:solidFill>
                  <a:srgbClr val="C9A961"/>
                </a:solidFill>
                <a:latin typeface="Calibri" pitchFamily="34" charset="0"/>
                <a:ea typeface="Calibri" pitchFamily="34" charset="-122"/>
                <a:cs typeface="Calibri" pitchFamily="34" charset="-120"/>
              </a:rPr>
              <a:t>GIVE NOW</a:t>
            </a:r>
            <a:endParaRPr lang="en-US" sz="1200" dirty="0"/>
          </a:p>
        </p:txBody>
      </p:sp>
      <p:sp>
        <p:nvSpPr>
          <p:cNvPr id="18" name="Text 16"/>
          <p:cNvSpPr/>
          <p:nvPr/>
        </p:nvSpPr>
        <p:spPr>
          <a:xfrm>
            <a:off x="7178040" y="1371600"/>
            <a:ext cx="4206240" cy="777240"/>
          </a:xfrm>
          <a:prstGeom prst="rect">
            <a:avLst/>
          </a:prstGeom>
          <a:noFill/>
          <a:ln/>
        </p:spPr>
        <p:txBody>
          <a:bodyPr wrap="square" lIns="0" tIns="0" rIns="0" bIns="0" rtlCol="0" anchor="ctr"/>
          <a:lstStyle/>
          <a:p>
            <a:pPr indent="0" marL="0">
              <a:lnSpc>
                <a:spcPct val="115000"/>
              </a:lnSpc>
              <a:buNone/>
            </a:pPr>
            <a:r>
              <a:rPr lang="en-US" sz="1900" b="1" dirty="0">
                <a:solidFill>
                  <a:srgbClr val="FFFFFF"/>
                </a:solidFill>
                <a:latin typeface="Cambria" pitchFamily="34" charset="0"/>
                <a:ea typeface="Cambria" pitchFamily="34" charset="-122"/>
                <a:cs typeface="Cambria" pitchFamily="34" charset="-120"/>
              </a:rPr>
              <a:t>Support Hope for Young Women</a:t>
            </a:r>
            <a:endParaRPr lang="en-US" sz="1900" dirty="0"/>
          </a:p>
        </p:txBody>
      </p:sp>
      <p:sp>
        <p:nvSpPr>
          <p:cNvPr id="19" name="Text 17"/>
          <p:cNvSpPr/>
          <p:nvPr/>
        </p:nvSpPr>
        <p:spPr>
          <a:xfrm>
            <a:off x="7178040" y="2286000"/>
            <a:ext cx="4206240" cy="914400"/>
          </a:xfrm>
          <a:prstGeom prst="rect">
            <a:avLst/>
          </a:prstGeom>
          <a:noFill/>
          <a:ln/>
        </p:spPr>
        <p:txBody>
          <a:bodyPr wrap="square" lIns="0" tIns="0" rIns="0" bIns="0" rtlCol="0" anchor="ctr"/>
          <a:lstStyle/>
          <a:p>
            <a:pPr indent="0" marL="0">
              <a:lnSpc>
                <a:spcPct val="135000"/>
              </a:lnSpc>
              <a:buNone/>
            </a:pPr>
            <a:r>
              <a:rPr lang="en-US" sz="1250" dirty="0">
                <a:solidFill>
                  <a:srgbClr val="E5DEFA"/>
                </a:solidFill>
                <a:latin typeface="Calibri" pitchFamily="34" charset="0"/>
                <a:ea typeface="Calibri" pitchFamily="34" charset="-122"/>
                <a:cs typeface="Calibri" pitchFamily="34" charset="-120"/>
              </a:rPr>
              <a:t>Give online in USD by card, Apple Pay, Google Pay or M-Pesa — secure checkout right on the page, powered by IntaSend.</a:t>
            </a:r>
            <a:endParaRPr lang="en-US" sz="1250" dirty="0"/>
          </a:p>
        </p:txBody>
      </p:sp>
      <p:sp>
        <p:nvSpPr>
          <p:cNvPr id="20" name="Shape 18"/>
          <p:cNvSpPr/>
          <p:nvPr/>
        </p:nvSpPr>
        <p:spPr>
          <a:xfrm>
            <a:off x="7178040" y="3337560"/>
            <a:ext cx="4206240" cy="868680"/>
          </a:xfrm>
          <a:prstGeom prst="roundRect">
            <a:avLst>
              <a:gd name="adj" fmla="val 52632"/>
            </a:avLst>
          </a:prstGeom>
          <a:solidFill>
            <a:srgbClr val="C9A961"/>
          </a:solidFill>
          <a:ln/>
        </p:spPr>
      </p:sp>
      <p:sp>
        <p:nvSpPr>
          <p:cNvPr id="21" name="Text 19"/>
          <p:cNvSpPr/>
          <p:nvPr/>
        </p:nvSpPr>
        <p:spPr>
          <a:xfrm>
            <a:off x="7178040" y="3337560"/>
            <a:ext cx="4206240" cy="868680"/>
          </a:xfrm>
          <a:prstGeom prst="rect">
            <a:avLst/>
          </a:prstGeom>
          <a:noFill/>
          <a:ln/>
        </p:spPr>
        <p:txBody>
          <a:bodyPr wrap="square" lIns="0" tIns="0" rIns="0" bIns="0" rtlCol="0" anchor="ctr"/>
          <a:lstStyle/>
          <a:p>
            <a:pPr algn="ctr" indent="0" marL="0">
              <a:buNone/>
            </a:pPr>
            <a:r>
              <a:rPr lang="en-US" sz="1350" b="1" dirty="0">
                <a:solidFill>
                  <a:srgbClr val="3B2E00"/>
                </a:solidFill>
                <a:latin typeface="Calibri" pitchFamily="34" charset="0"/>
                <a:ea typeface="Calibri" pitchFamily="34" charset="-122"/>
                <a:cs typeface="Calibri" pitchFamily="34" charset="-120"/>
              </a:rPr>
              <a:t>jcfm.online/hope-for-young-women</a:t>
            </a:r>
            <a:endParaRPr lang="en-US" sz="1350" dirty="0"/>
          </a:p>
        </p:txBody>
      </p:sp>
      <p:sp>
        <p:nvSpPr>
          <p:cNvPr id="22" name="Text 20"/>
          <p:cNvSpPr/>
          <p:nvPr/>
        </p:nvSpPr>
        <p:spPr>
          <a:xfrm>
            <a:off x="7178040" y="4526280"/>
            <a:ext cx="420624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Prefer to talk first?</a:t>
            </a:r>
            <a:endParaRPr lang="en-US" sz="1300" dirty="0"/>
          </a:p>
        </p:txBody>
      </p:sp>
      <p:sp>
        <p:nvSpPr>
          <p:cNvPr id="23" name="Text 21"/>
          <p:cNvSpPr/>
          <p:nvPr/>
        </p:nvSpPr>
        <p:spPr>
          <a:xfrm>
            <a:off x="7178040" y="4846320"/>
            <a:ext cx="4206240" cy="777240"/>
          </a:xfrm>
          <a:prstGeom prst="rect">
            <a:avLst/>
          </a:prstGeom>
          <a:noFill/>
          <a:ln/>
        </p:spPr>
        <p:txBody>
          <a:bodyPr wrap="square" lIns="0" tIns="0" rIns="0" bIns="0" rtlCol="0" anchor="ctr"/>
          <a:lstStyle/>
          <a:p>
            <a:pPr indent="0" marL="0">
              <a:lnSpc>
                <a:spcPct val="130000"/>
              </a:lnSpc>
              <a:buNone/>
            </a:pPr>
            <a:r>
              <a:rPr lang="en-US" sz="1150" dirty="0">
                <a:solidFill>
                  <a:srgbClr val="E5DEFA"/>
                </a:solidFill>
                <a:latin typeface="Calibri" pitchFamily="34" charset="0"/>
                <a:ea typeface="Calibri" pitchFamily="34" charset="-122"/>
                <a:cs typeface="Calibri" pitchFamily="34" charset="-120"/>
              </a:rPr>
              <a:t>Reach the office directly, or partner as a church or organisation wanting to expand this work into new communities.</a:t>
            </a:r>
            <a:endParaRPr lang="en-US" sz="1150" dirty="0"/>
          </a:p>
        </p:txBody>
      </p:sp>
      <p:sp>
        <p:nvSpPr>
          <p:cNvPr id="24" name="Text 22"/>
          <p:cNvSpPr/>
          <p:nvPr/>
        </p:nvSpPr>
        <p:spPr>
          <a:xfrm>
            <a:off x="7178040" y="5623560"/>
            <a:ext cx="4206240" cy="365760"/>
          </a:xfrm>
          <a:prstGeom prst="rect">
            <a:avLst/>
          </a:prstGeom>
          <a:noFill/>
          <a:ln/>
        </p:spPr>
        <p:txBody>
          <a:bodyPr wrap="square" lIns="0" tIns="0" rIns="0" bIns="0" rtlCol="0" anchor="ctr"/>
          <a:lstStyle/>
          <a:p>
            <a:pPr indent="0" marL="0">
              <a:buNone/>
            </a:pPr>
            <a:r>
              <a:rPr lang="en-US" sz="1250" b="1" dirty="0">
                <a:solidFill>
                  <a:srgbClr val="C9A961"/>
                </a:solidFill>
                <a:latin typeface="Calibri" pitchFamily="34" charset="0"/>
                <a:ea typeface="Calibri" pitchFamily="34" charset="-122"/>
                <a:cs typeface="Calibri" pitchFamily="34" charset="-120"/>
              </a:rPr>
              <a:t>info@jcfm.online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545"/>
        </a:solidFill>
      </p:bgPr>
    </p:bg>
    <p:spTree>
      <p:nvGrpSpPr>
        <p:cNvPr id="1" name=""/>
        <p:cNvGrpSpPr/>
        <p:nvPr/>
      </p:nvGrpSpPr>
      <p:grpSpPr>
        <a:xfrm>
          <a:off x="0" y="0"/>
          <a:ext cx="0" cy="0"/>
          <a:chOff x="0" y="0"/>
          <a:chExt cx="0" cy="0"/>
        </a:xfrm>
      </p:grpSpPr>
      <p:pic>
        <p:nvPicPr>
          <p:cNvPr id="2" name="Image 0" descr="icons/quote.png">    </p:cNvPr>
          <p:cNvPicPr>
            <a:picLocks noChangeAspect="1"/>
          </p:cNvPicPr>
          <p:nvPr/>
        </p:nvPicPr>
        <p:blipFill>
          <a:blip r:embed="rId1">
            <a:alphaModFix amt="80000"/>
          </a:blip>
          <a:stretch>
            <a:fillRect/>
          </a:stretch>
        </p:blipFill>
        <p:spPr>
          <a:xfrm>
            <a:off x="5774436" y="685800"/>
            <a:ext cx="640080" cy="640080"/>
          </a:xfrm>
          <a:prstGeom prst="rect">
            <a:avLst/>
          </a:prstGeom>
        </p:spPr>
      </p:pic>
      <p:sp>
        <p:nvSpPr>
          <p:cNvPr id="3" name="Text 0"/>
          <p:cNvSpPr/>
          <p:nvPr/>
        </p:nvSpPr>
        <p:spPr>
          <a:xfrm>
            <a:off x="1463040" y="1600200"/>
            <a:ext cx="9235440" cy="1828800"/>
          </a:xfrm>
          <a:prstGeom prst="rect">
            <a:avLst/>
          </a:prstGeom>
          <a:noFill/>
          <a:ln/>
        </p:spPr>
        <p:txBody>
          <a:bodyPr wrap="square" lIns="0" tIns="0" rIns="0" bIns="0" rtlCol="0" anchor="ctr"/>
          <a:lstStyle/>
          <a:p>
            <a:pPr algn="ctr" indent="0" marL="0">
              <a:lnSpc>
                <a:spcPct val="140000"/>
              </a:lnSpc>
              <a:buNone/>
            </a:pPr>
            <a:r>
              <a:rPr lang="en-US" sz="2100" i="1" dirty="0">
                <a:solidFill>
                  <a:srgbClr val="E6E9F2"/>
                </a:solidFill>
                <a:latin typeface="Cambria" pitchFamily="34" charset="0"/>
                <a:ea typeface="Cambria" pitchFamily="34" charset="-122"/>
                <a:cs typeface="Cambria" pitchFamily="34" charset="-120"/>
              </a:rPr>
              <a:t>This is not charity. This is redemption. You are not just paying school fees — you are restoring a name. You are not just funding a program — you are answering a 2am prayer.</a:t>
            </a:r>
            <a:endParaRPr lang="en-US" sz="2100" dirty="0"/>
          </a:p>
        </p:txBody>
      </p:sp>
      <p:sp>
        <p:nvSpPr>
          <p:cNvPr id="4" name="Text 1"/>
          <p:cNvSpPr/>
          <p:nvPr/>
        </p:nvSpPr>
        <p:spPr>
          <a:xfrm>
            <a:off x="0" y="3429000"/>
            <a:ext cx="12188952" cy="365760"/>
          </a:xfrm>
          <a:prstGeom prst="rect">
            <a:avLst/>
          </a:prstGeom>
          <a:noFill/>
          <a:ln/>
        </p:spPr>
        <p:txBody>
          <a:bodyPr wrap="square" lIns="0" tIns="0" rIns="0" bIns="0" rtlCol="0" anchor="ctr"/>
          <a:lstStyle/>
          <a:p>
            <a:pPr algn="ctr" indent="0" marL="0">
              <a:buNone/>
            </a:pPr>
            <a:r>
              <a:rPr lang="en-US" sz="1200" b="1" spc="250" kern="0" dirty="0">
                <a:solidFill>
                  <a:srgbClr val="C9A961"/>
                </a:solidFill>
                <a:latin typeface="Calibri" pitchFamily="34" charset="0"/>
                <a:ea typeface="Calibri" pitchFamily="34" charset="-122"/>
                <a:cs typeface="Calibri" pitchFamily="34" charset="-120"/>
              </a:rPr>
              <a:t>— PASTOR SARAH</a:t>
            </a:r>
            <a:endParaRPr lang="en-US" sz="1200" dirty="0"/>
          </a:p>
        </p:txBody>
      </p:sp>
      <p:sp>
        <p:nvSpPr>
          <p:cNvPr id="5" name="Text 2"/>
          <p:cNvSpPr/>
          <p:nvPr/>
        </p:nvSpPr>
        <p:spPr>
          <a:xfrm>
            <a:off x="1371600" y="4297680"/>
            <a:ext cx="9418320" cy="548640"/>
          </a:xfrm>
          <a:prstGeom prst="rect">
            <a:avLst/>
          </a:prstGeom>
          <a:noFill/>
          <a:ln/>
        </p:spPr>
        <p:txBody>
          <a:bodyPr wrap="square" lIns="0" tIns="0" rIns="0" bIns="0" rtlCol="0" anchor="ctr"/>
          <a:lstStyle/>
          <a:p>
            <a:pPr algn="ctr" indent="0" marL="0">
              <a:buNone/>
            </a:pPr>
            <a:r>
              <a:rPr lang="en-US" sz="2000" dirty="0">
                <a:solidFill>
                  <a:srgbClr val="FFFFFF"/>
                </a:solidFill>
                <a:latin typeface="Cambria" pitchFamily="34" charset="0"/>
                <a:ea typeface="Cambria" pitchFamily="34" charset="-122"/>
                <a:cs typeface="Cambria" pitchFamily="34" charset="-120"/>
              </a:rPr>
              <a:t>Join us. Let’s build hope, one girl at a time.</a:t>
            </a:r>
            <a:endParaRPr lang="en-US" sz="2000" dirty="0"/>
          </a:p>
        </p:txBody>
      </p:sp>
      <p:sp>
        <p:nvSpPr>
          <p:cNvPr id="6" name="Text 3"/>
          <p:cNvSpPr/>
          <p:nvPr/>
        </p:nvSpPr>
        <p:spPr>
          <a:xfrm>
            <a:off x="1371600" y="4846320"/>
            <a:ext cx="9418320" cy="411480"/>
          </a:xfrm>
          <a:prstGeom prst="rect">
            <a:avLst/>
          </a:prstGeom>
          <a:noFill/>
          <a:ln/>
        </p:spPr>
        <p:txBody>
          <a:bodyPr wrap="square" lIns="0" tIns="0" rIns="0" bIns="0" rtlCol="0" anchor="ctr"/>
          <a:lstStyle/>
          <a:p>
            <a:pPr algn="ctr" indent="0" marL="0">
              <a:buNone/>
            </a:pPr>
            <a:r>
              <a:rPr lang="en-US" sz="1300" i="1" dirty="0">
                <a:solidFill>
                  <a:srgbClr val="C4B5FD"/>
                </a:solidFill>
                <a:latin typeface="Calibri" pitchFamily="34" charset="0"/>
                <a:ea typeface="Calibri" pitchFamily="34" charset="-122"/>
                <a:cs typeface="Calibri" pitchFamily="34" charset="-120"/>
              </a:rPr>
              <a:t>Hope for Young Women — because no girl should walk alone.</a:t>
            </a:r>
            <a:endParaRPr lang="en-US" sz="1300" dirty="0"/>
          </a:p>
        </p:txBody>
      </p:sp>
      <p:sp>
        <p:nvSpPr>
          <p:cNvPr id="7" name="Text 4"/>
          <p:cNvSpPr/>
          <p:nvPr/>
        </p:nvSpPr>
        <p:spPr>
          <a:xfrm>
            <a:off x="0" y="5806440"/>
            <a:ext cx="12188952" cy="365760"/>
          </a:xfrm>
          <a:prstGeom prst="rect">
            <a:avLst/>
          </a:prstGeom>
          <a:noFill/>
          <a:ln/>
        </p:spPr>
        <p:txBody>
          <a:bodyPr wrap="square" lIns="0" tIns="0" rIns="0" bIns="0" rtlCol="0" anchor="ctr"/>
          <a:lstStyle/>
          <a:p>
            <a:pPr algn="ctr" indent="0" marL="0">
              <a:buNone/>
            </a:pPr>
            <a:r>
              <a:rPr lang="en-US" sz="1200" b="1" dirty="0">
                <a:solidFill>
                  <a:srgbClr val="C9A961"/>
                </a:solidFill>
                <a:latin typeface="Calibri" pitchFamily="34" charset="0"/>
                <a:ea typeface="Calibri" pitchFamily="34" charset="-122"/>
                <a:cs typeface="Calibri" pitchFamily="34" charset="-120"/>
              </a:rPr>
              <a:t>jcfm.online/hope-for-young-women  ·  info@jcfm.online</a:t>
            </a:r>
            <a:endParaRPr lang="en-US" sz="1200" dirty="0"/>
          </a:p>
        </p:txBody>
      </p:sp>
      <p:sp>
        <p:nvSpPr>
          <p:cNvPr id="8" name="Text 5"/>
          <p:cNvSpPr/>
          <p:nvPr/>
        </p:nvSpPr>
        <p:spPr>
          <a:xfrm>
            <a:off x="0" y="6263640"/>
            <a:ext cx="12188952" cy="320040"/>
          </a:xfrm>
          <a:prstGeom prst="rect">
            <a:avLst/>
          </a:prstGeom>
          <a:noFill/>
          <a:ln/>
        </p:spPr>
        <p:txBody>
          <a:bodyPr wrap="square" lIns="0" tIns="0" rIns="0" bIns="0" rtlCol="0" anchor="ctr"/>
          <a:lstStyle/>
          <a:p>
            <a:pPr algn="ctr" indent="0" marL="0">
              <a:buNone/>
            </a:pPr>
            <a:r>
              <a:rPr lang="en-US" sz="1050" dirty="0">
                <a:solidFill>
                  <a:srgbClr val="8B93B0"/>
                </a:solidFill>
                <a:latin typeface="Calibri" pitchFamily="34" charset="0"/>
                <a:ea typeface="Calibri" pitchFamily="34" charset="-122"/>
                <a:cs typeface="Calibri" pitchFamily="34" charset="-120"/>
              </a:rPr>
              <a:t>Jesus Christ Founder Ministry</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2026-08-17T09:23:13Z</dcterms:created>
  <dcterms:modified xsi:type="dcterms:W3CDTF">2026-08-17T09:23:13Z</dcterms:modified>
</cp:coreProperties>
</file>